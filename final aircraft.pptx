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rial Bold" charset="1" panose="020B0704020202020204"/>
      <p:regular r:id="rId18"/>
    </p:embeddedFont>
    <p:embeddedFont>
      <p:font typeface="Arial" charset="1" panose="020B060402020202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5.jpe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13.jpeg" Type="http://schemas.openxmlformats.org/officeDocument/2006/relationships/image"/><Relationship Id="rId7" Target="../media/image14.jpeg" Type="http://schemas.openxmlformats.org/officeDocument/2006/relationships/image"/><Relationship Id="rId8"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13.jpeg" Type="http://schemas.openxmlformats.org/officeDocument/2006/relationships/image"/><Relationship Id="rId7" Target="../media/image14.jpe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18.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51"/>
            <a:chOff x="0" y="0"/>
            <a:chExt cx="3600450" cy="1151001"/>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2510" r="0" b="-2510"/>
              </a:stretch>
            </a:blipFill>
          </p:spPr>
        </p:sp>
      </p:grpSp>
      <p:sp>
        <p:nvSpPr>
          <p:cNvPr name="Freeform 4" id="4"/>
          <p:cNvSpPr/>
          <p:nvPr/>
        </p:nvSpPr>
        <p:spPr>
          <a:xfrm flipH="false" flipV="false" rot="0">
            <a:off x="-19050" y="-19050"/>
            <a:ext cx="14782800" cy="1114520"/>
          </a:xfrm>
          <a:custGeom>
            <a:avLst/>
            <a:gdLst/>
            <a:ahLst/>
            <a:cxnLst/>
            <a:rect r="r" b="b" t="t" l="l"/>
            <a:pathLst>
              <a:path h="1114520" w="14782800">
                <a:moveTo>
                  <a:pt x="0" y="0"/>
                </a:moveTo>
                <a:lnTo>
                  <a:pt x="14782800" y="0"/>
                </a:lnTo>
                <a:lnTo>
                  <a:pt x="14782800" y="1114520"/>
                </a:lnTo>
                <a:lnTo>
                  <a:pt x="0" y="11145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4833454" y="-629"/>
            <a:ext cx="168402" cy="1098518"/>
            <a:chOff x="0" y="0"/>
            <a:chExt cx="224536" cy="1464691"/>
          </a:xfrm>
        </p:grpSpPr>
        <p:sp>
          <p:nvSpPr>
            <p:cNvPr name="Freeform 6" id="6"/>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7" id="7"/>
          <p:cNvGrpSpPr/>
          <p:nvPr/>
        </p:nvGrpSpPr>
        <p:grpSpPr>
          <a:xfrm rot="0">
            <a:off x="0" y="-19050"/>
            <a:ext cx="14758988" cy="1085850"/>
            <a:chOff x="0" y="0"/>
            <a:chExt cx="19678650" cy="1447800"/>
          </a:xfrm>
        </p:grpSpPr>
        <p:sp>
          <p:nvSpPr>
            <p:cNvPr name="Freeform 8" id="8"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5">
                <a:alphaModFix amt="16000"/>
              </a:blip>
              <a:stretch>
                <a:fillRect l="0" t="-374753" r="0" b="-374753"/>
              </a:stretch>
            </a:blipFill>
          </p:spPr>
        </p:sp>
      </p:grpSp>
      <p:grpSp>
        <p:nvGrpSpPr>
          <p:cNvPr name="Group 9" id="9"/>
          <p:cNvGrpSpPr/>
          <p:nvPr/>
        </p:nvGrpSpPr>
        <p:grpSpPr>
          <a:xfrm rot="0">
            <a:off x="17887950" y="-629"/>
            <a:ext cx="400050" cy="1098518"/>
            <a:chOff x="0" y="0"/>
            <a:chExt cx="533400" cy="1464691"/>
          </a:xfrm>
        </p:grpSpPr>
        <p:sp>
          <p:nvSpPr>
            <p:cNvPr name="Freeform 10" id="10"/>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grpSp>
        <p:nvGrpSpPr>
          <p:cNvPr name="Group 11" id="11"/>
          <p:cNvGrpSpPr/>
          <p:nvPr/>
        </p:nvGrpSpPr>
        <p:grpSpPr>
          <a:xfrm rot="0">
            <a:off x="76200" y="38100"/>
            <a:ext cx="18288000" cy="10287000"/>
            <a:chOff x="0" y="0"/>
            <a:chExt cx="24384000" cy="13716000"/>
          </a:xfrm>
        </p:grpSpPr>
        <p:sp>
          <p:nvSpPr>
            <p:cNvPr name="Freeform 12" id="12" descr="A person sitting at a desk with a computer  Description automatically generated"/>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6"/>
              <a:stretch>
                <a:fillRect l="0" t="0" r="0" b="0"/>
              </a:stretch>
            </a:blipFill>
          </p:spPr>
        </p:sp>
      </p:grpSp>
      <p:sp>
        <p:nvSpPr>
          <p:cNvPr name="Freeform 13" id="13"/>
          <p:cNvSpPr/>
          <p:nvPr/>
        </p:nvSpPr>
        <p:spPr>
          <a:xfrm flipH="false" flipV="false" rot="0">
            <a:off x="13012264" y="857250"/>
            <a:ext cx="3203734" cy="1504950"/>
          </a:xfrm>
          <a:custGeom>
            <a:avLst/>
            <a:gdLst/>
            <a:ahLst/>
            <a:cxnLst/>
            <a:rect r="r" b="b" t="t" l="l"/>
            <a:pathLst>
              <a:path h="1504950" w="3203734">
                <a:moveTo>
                  <a:pt x="0" y="0"/>
                </a:moveTo>
                <a:lnTo>
                  <a:pt x="3203734" y="0"/>
                </a:lnTo>
                <a:lnTo>
                  <a:pt x="3203734" y="1504950"/>
                </a:lnTo>
                <a:lnTo>
                  <a:pt x="0" y="150495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4" id="14"/>
          <p:cNvSpPr txBox="true"/>
          <p:nvPr/>
        </p:nvSpPr>
        <p:spPr>
          <a:xfrm rot="0">
            <a:off x="6217034" y="2757021"/>
            <a:ext cx="11151413" cy="1950872"/>
          </a:xfrm>
          <a:prstGeom prst="rect">
            <a:avLst/>
          </a:prstGeom>
        </p:spPr>
        <p:txBody>
          <a:bodyPr anchor="t" rtlCol="false" tIns="0" lIns="0" bIns="0" rIns="0">
            <a:spAutoFit/>
          </a:bodyPr>
          <a:lstStyle/>
          <a:p>
            <a:pPr algn="r">
              <a:lnSpc>
                <a:spcPts val="7200"/>
              </a:lnSpc>
            </a:pPr>
            <a:r>
              <a:rPr lang="en-US" sz="6000" b="true">
                <a:solidFill>
                  <a:srgbClr val="FFFFFF"/>
                </a:solidFill>
                <a:latin typeface="Arial Bold"/>
                <a:ea typeface="Arial Bold"/>
                <a:cs typeface="Arial Bold"/>
                <a:sym typeface="Arial Bold"/>
              </a:rPr>
              <a:t>Aircraft Delay Prediction Tool Using Machine Learning</a:t>
            </a:r>
          </a:p>
        </p:txBody>
      </p:sp>
      <p:grpSp>
        <p:nvGrpSpPr>
          <p:cNvPr name="Group 15" id="15"/>
          <p:cNvGrpSpPr/>
          <p:nvPr/>
        </p:nvGrpSpPr>
        <p:grpSpPr>
          <a:xfrm rot="0">
            <a:off x="13592918" y="1301601"/>
            <a:ext cx="1894713" cy="616268"/>
            <a:chOff x="0" y="0"/>
            <a:chExt cx="2526284" cy="821690"/>
          </a:xfrm>
        </p:grpSpPr>
        <p:sp>
          <p:nvSpPr>
            <p:cNvPr name="Freeform 16" id="16" descr="A close up of a logo  Description automatically generated"/>
            <p:cNvSpPr/>
            <p:nvPr/>
          </p:nvSpPr>
          <p:spPr>
            <a:xfrm flipH="false" flipV="false" rot="0">
              <a:off x="0" y="0"/>
              <a:ext cx="2526284" cy="821690"/>
            </a:xfrm>
            <a:custGeom>
              <a:avLst/>
              <a:gdLst/>
              <a:ahLst/>
              <a:cxnLst/>
              <a:rect r="r" b="b" t="t" l="l"/>
              <a:pathLst>
                <a:path h="821690" w="2526284">
                  <a:moveTo>
                    <a:pt x="0" y="0"/>
                  </a:moveTo>
                  <a:lnTo>
                    <a:pt x="2526284" y="0"/>
                  </a:lnTo>
                  <a:lnTo>
                    <a:pt x="2526284" y="821690"/>
                  </a:lnTo>
                  <a:lnTo>
                    <a:pt x="0" y="821690"/>
                  </a:lnTo>
                  <a:lnTo>
                    <a:pt x="0" y="0"/>
                  </a:lnTo>
                  <a:close/>
                </a:path>
              </a:pathLst>
            </a:custGeom>
            <a:blipFill>
              <a:blip r:embed="rId9"/>
              <a:stretch>
                <a:fillRect l="0" t="-208" r="0" b="-208"/>
              </a:stretch>
            </a:blipFill>
          </p:spPr>
        </p:sp>
      </p:grpSp>
      <p:sp>
        <p:nvSpPr>
          <p:cNvPr name="TextBox 17" id="17"/>
          <p:cNvSpPr txBox="true"/>
          <p:nvPr/>
        </p:nvSpPr>
        <p:spPr>
          <a:xfrm rot="0">
            <a:off x="7231828" y="5250075"/>
            <a:ext cx="9337634" cy="3513306"/>
          </a:xfrm>
          <a:prstGeom prst="rect">
            <a:avLst/>
          </a:prstGeom>
        </p:spPr>
        <p:txBody>
          <a:bodyPr anchor="t" rtlCol="false" tIns="0" lIns="0" bIns="0" rIns="0">
            <a:spAutoFit/>
          </a:bodyPr>
          <a:lstStyle/>
          <a:p>
            <a:pPr algn="l">
              <a:lnSpc>
                <a:spcPts val="3329"/>
              </a:lnSpc>
            </a:pPr>
            <a:r>
              <a:rPr lang="en-US" sz="2775">
                <a:solidFill>
                  <a:srgbClr val="FFFFFF"/>
                </a:solidFill>
                <a:latin typeface="Arial"/>
                <a:ea typeface="Arial"/>
                <a:cs typeface="Arial"/>
                <a:sym typeface="Arial"/>
              </a:rPr>
              <a:t>Pooja .G.H</a:t>
            </a:r>
          </a:p>
          <a:p>
            <a:pPr algn="l">
              <a:lnSpc>
                <a:spcPts val="3329"/>
              </a:lnSpc>
            </a:pPr>
            <a:r>
              <a:rPr lang="en-US" sz="2775">
                <a:solidFill>
                  <a:srgbClr val="FFFFFF"/>
                </a:solidFill>
                <a:latin typeface="Arial"/>
                <a:ea typeface="Arial"/>
                <a:cs typeface="Arial"/>
                <a:sym typeface="Arial"/>
              </a:rPr>
              <a:t>Megha .C</a:t>
            </a:r>
          </a:p>
          <a:p>
            <a:pPr algn="l">
              <a:lnSpc>
                <a:spcPts val="3329"/>
              </a:lnSpc>
            </a:pPr>
            <a:r>
              <a:rPr lang="en-US" sz="2775">
                <a:solidFill>
                  <a:srgbClr val="FFFFFF"/>
                </a:solidFill>
                <a:latin typeface="Arial"/>
                <a:ea typeface="Arial"/>
                <a:cs typeface="Arial"/>
                <a:sym typeface="Arial"/>
              </a:rPr>
              <a:t>Shilpa.C</a:t>
            </a:r>
          </a:p>
          <a:p>
            <a:pPr algn="l">
              <a:lnSpc>
                <a:spcPts val="3329"/>
              </a:lnSpc>
            </a:pPr>
            <a:r>
              <a:rPr lang="en-US" sz="2775">
                <a:solidFill>
                  <a:srgbClr val="FFFFFF"/>
                </a:solidFill>
                <a:latin typeface="Arial"/>
                <a:ea typeface="Arial"/>
                <a:cs typeface="Arial"/>
                <a:sym typeface="Arial"/>
              </a:rPr>
              <a:t>Nisha.Asture</a:t>
            </a:r>
          </a:p>
          <a:p>
            <a:pPr algn="l">
              <a:lnSpc>
                <a:spcPts val="3329"/>
              </a:lnSpc>
            </a:pPr>
            <a:r>
              <a:rPr lang="en-US" sz="2775">
                <a:solidFill>
                  <a:srgbClr val="FFFFFF"/>
                </a:solidFill>
                <a:latin typeface="Arial"/>
                <a:ea typeface="Arial"/>
                <a:cs typeface="Arial"/>
                <a:sym typeface="Arial"/>
              </a:rPr>
              <a:t>Khushi.C</a:t>
            </a:r>
          </a:p>
          <a:p>
            <a:pPr algn="l">
              <a:lnSpc>
                <a:spcPts val="3360"/>
              </a:lnSpc>
            </a:pPr>
            <a:r>
              <a:rPr lang="en-US" sz="2799">
                <a:solidFill>
                  <a:srgbClr val="FFFFFF"/>
                </a:solidFill>
                <a:latin typeface="Arial"/>
                <a:ea typeface="Arial"/>
                <a:cs typeface="Arial"/>
                <a:sym typeface="Arial"/>
              </a:rPr>
              <a:t>                                                          Sarthak Narnor</a:t>
            </a:r>
          </a:p>
          <a:p>
            <a:pPr algn="l">
              <a:lnSpc>
                <a:spcPts val="3360"/>
              </a:lnSpc>
            </a:pPr>
          </a:p>
          <a:p>
            <a:pPr algn="l">
              <a:lnSpc>
                <a:spcPts val="3360"/>
              </a:lnSpc>
            </a:pPr>
            <a:r>
              <a:rPr lang="en-US" sz="2799">
                <a:solidFill>
                  <a:srgbClr val="FFFFFF"/>
                </a:solidFill>
                <a:latin typeface="Arial"/>
                <a:ea typeface="Arial"/>
                <a:cs typeface="Arial"/>
                <a:sym typeface="Arial"/>
              </a:rPr>
              <a:t>Faculty Of Engineering And Technology(ex-women)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51"/>
            <a:chOff x="0" y="0"/>
            <a:chExt cx="3600450" cy="1151001"/>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2510" r="0" b="-2510"/>
              </a:stretch>
            </a:blipFill>
          </p:spPr>
        </p:sp>
      </p:grpSp>
      <p:sp>
        <p:nvSpPr>
          <p:cNvPr name="Freeform 4" id="4"/>
          <p:cNvSpPr/>
          <p:nvPr/>
        </p:nvSpPr>
        <p:spPr>
          <a:xfrm flipH="false" flipV="false" rot="0">
            <a:off x="-19050" y="-19050"/>
            <a:ext cx="14782800" cy="1114520"/>
          </a:xfrm>
          <a:custGeom>
            <a:avLst/>
            <a:gdLst/>
            <a:ahLst/>
            <a:cxnLst/>
            <a:rect r="r" b="b" t="t" l="l"/>
            <a:pathLst>
              <a:path h="1114520" w="14782800">
                <a:moveTo>
                  <a:pt x="0" y="0"/>
                </a:moveTo>
                <a:lnTo>
                  <a:pt x="14782800" y="0"/>
                </a:lnTo>
                <a:lnTo>
                  <a:pt x="14782800" y="1114520"/>
                </a:lnTo>
                <a:lnTo>
                  <a:pt x="0" y="11145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4833454" y="-629"/>
            <a:ext cx="168402" cy="1098518"/>
            <a:chOff x="0" y="0"/>
            <a:chExt cx="224536" cy="1464691"/>
          </a:xfrm>
        </p:grpSpPr>
        <p:sp>
          <p:nvSpPr>
            <p:cNvPr name="Freeform 6" id="6"/>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7" id="7"/>
          <p:cNvGrpSpPr/>
          <p:nvPr/>
        </p:nvGrpSpPr>
        <p:grpSpPr>
          <a:xfrm rot="0">
            <a:off x="0" y="-19050"/>
            <a:ext cx="14758988" cy="1085850"/>
            <a:chOff x="0" y="0"/>
            <a:chExt cx="19678650" cy="1447800"/>
          </a:xfrm>
        </p:grpSpPr>
        <p:sp>
          <p:nvSpPr>
            <p:cNvPr name="Freeform 8" id="8"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5">
                <a:alphaModFix amt="16000"/>
              </a:blip>
              <a:stretch>
                <a:fillRect l="0" t="-374753" r="0" b="-374753"/>
              </a:stretch>
            </a:blipFill>
          </p:spPr>
        </p:sp>
      </p:grpSp>
      <p:grpSp>
        <p:nvGrpSpPr>
          <p:cNvPr name="Group 9" id="9"/>
          <p:cNvGrpSpPr/>
          <p:nvPr/>
        </p:nvGrpSpPr>
        <p:grpSpPr>
          <a:xfrm rot="0">
            <a:off x="17887950" y="-629"/>
            <a:ext cx="400050" cy="1098518"/>
            <a:chOff x="0" y="0"/>
            <a:chExt cx="533400" cy="1464691"/>
          </a:xfrm>
        </p:grpSpPr>
        <p:sp>
          <p:nvSpPr>
            <p:cNvPr name="Freeform 10" id="10"/>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grpSp>
        <p:nvGrpSpPr>
          <p:cNvPr name="Group 11" id="11"/>
          <p:cNvGrpSpPr/>
          <p:nvPr/>
        </p:nvGrpSpPr>
        <p:grpSpPr>
          <a:xfrm rot="3600">
            <a:off x="-14297" y="9073515"/>
            <a:ext cx="18316585" cy="9525"/>
            <a:chOff x="0" y="0"/>
            <a:chExt cx="24422113" cy="12700"/>
          </a:xfrm>
        </p:grpSpPr>
        <p:sp>
          <p:nvSpPr>
            <p:cNvPr name="Freeform 12" id="12"/>
            <p:cNvSpPr/>
            <p:nvPr/>
          </p:nvSpPr>
          <p:spPr>
            <a:xfrm flipH="false" flipV="false" rot="0">
              <a:off x="0" y="0"/>
              <a:ext cx="24422100" cy="12700"/>
            </a:xfrm>
            <a:custGeom>
              <a:avLst/>
              <a:gdLst/>
              <a:ahLst/>
              <a:cxnLst/>
              <a:rect r="r" b="b" t="t" l="l"/>
              <a:pathLst>
                <a:path h="12700" w="24422100">
                  <a:moveTo>
                    <a:pt x="6350" y="0"/>
                  </a:moveTo>
                  <a:lnTo>
                    <a:pt x="24415750" y="0"/>
                  </a:lnTo>
                  <a:cubicBezTo>
                    <a:pt x="24419306" y="0"/>
                    <a:pt x="24422100" y="2794"/>
                    <a:pt x="24422100" y="6350"/>
                  </a:cubicBezTo>
                  <a:cubicBezTo>
                    <a:pt x="24422100" y="9906"/>
                    <a:pt x="24419306" y="12700"/>
                    <a:pt x="24415750" y="12700"/>
                  </a:cubicBezTo>
                  <a:lnTo>
                    <a:pt x="6350" y="12700"/>
                  </a:lnTo>
                  <a:cubicBezTo>
                    <a:pt x="2794" y="12700"/>
                    <a:pt x="0" y="9906"/>
                    <a:pt x="0" y="6350"/>
                  </a:cubicBezTo>
                  <a:cubicBezTo>
                    <a:pt x="0" y="2794"/>
                    <a:pt x="2794" y="0"/>
                    <a:pt x="6350" y="0"/>
                  </a:cubicBezTo>
                  <a:close/>
                </a:path>
              </a:pathLst>
            </a:custGeom>
            <a:solidFill>
              <a:srgbClr val="FFFFFF"/>
            </a:solidFill>
          </p:spPr>
        </p:sp>
      </p:grpSp>
      <p:sp>
        <p:nvSpPr>
          <p:cNvPr name="TextBox 13" id="13"/>
          <p:cNvSpPr txBox="true"/>
          <p:nvPr/>
        </p:nvSpPr>
        <p:spPr>
          <a:xfrm rot="0">
            <a:off x="703183" y="1363285"/>
            <a:ext cx="7354862" cy="886320"/>
          </a:xfrm>
          <a:prstGeom prst="rect">
            <a:avLst/>
          </a:prstGeom>
        </p:spPr>
        <p:txBody>
          <a:bodyPr anchor="t" rtlCol="false" tIns="0" lIns="0" bIns="0" rIns="0">
            <a:spAutoFit/>
          </a:bodyPr>
          <a:lstStyle/>
          <a:p>
            <a:pPr algn="l">
              <a:lnSpc>
                <a:spcPts val="3600"/>
              </a:lnSpc>
            </a:pPr>
            <a:r>
              <a:rPr lang="en-US" sz="3000" b="true">
                <a:solidFill>
                  <a:srgbClr val="213163"/>
                </a:solidFill>
                <a:latin typeface="Arial Bold"/>
                <a:ea typeface="Arial Bold"/>
                <a:cs typeface="Arial Bold"/>
                <a:sym typeface="Arial Bold"/>
              </a:rPr>
              <a:t>Project Outline</a:t>
            </a:r>
          </a:p>
        </p:txBody>
      </p:sp>
      <p:grpSp>
        <p:nvGrpSpPr>
          <p:cNvPr name="Group 14" id="14"/>
          <p:cNvGrpSpPr/>
          <p:nvPr/>
        </p:nvGrpSpPr>
        <p:grpSpPr>
          <a:xfrm rot="0">
            <a:off x="10621899" y="1686916"/>
            <a:ext cx="6904196" cy="6920579"/>
            <a:chOff x="0" y="0"/>
            <a:chExt cx="9205595" cy="9227439"/>
          </a:xfrm>
        </p:grpSpPr>
        <p:sp>
          <p:nvSpPr>
            <p:cNvPr name="Freeform 15" id="15"/>
            <p:cNvSpPr/>
            <p:nvPr/>
          </p:nvSpPr>
          <p:spPr>
            <a:xfrm flipH="false" flipV="false" rot="0">
              <a:off x="0" y="0"/>
              <a:ext cx="9205595" cy="9227439"/>
            </a:xfrm>
            <a:custGeom>
              <a:avLst/>
              <a:gdLst/>
              <a:ahLst/>
              <a:cxnLst/>
              <a:rect r="r" b="b" t="t" l="l"/>
              <a:pathLst>
                <a:path h="9227439" w="9205595">
                  <a:moveTo>
                    <a:pt x="0" y="0"/>
                  </a:moveTo>
                  <a:lnTo>
                    <a:pt x="9205595" y="0"/>
                  </a:lnTo>
                  <a:lnTo>
                    <a:pt x="9205595" y="9227439"/>
                  </a:lnTo>
                  <a:lnTo>
                    <a:pt x="0" y="9227439"/>
                  </a:lnTo>
                  <a:lnTo>
                    <a:pt x="0" y="0"/>
                  </a:lnTo>
                  <a:close/>
                </a:path>
              </a:pathLst>
            </a:custGeom>
            <a:blipFill>
              <a:blip r:embed="rId6"/>
              <a:stretch>
                <a:fillRect l="-118" t="0" r="-118" b="0"/>
              </a:stretch>
            </a:blipFill>
          </p:spPr>
        </p:sp>
      </p:grpSp>
      <p:sp>
        <p:nvSpPr>
          <p:cNvPr name="TextBox 16" id="16"/>
          <p:cNvSpPr txBox="true"/>
          <p:nvPr/>
        </p:nvSpPr>
        <p:spPr>
          <a:xfrm rot="0">
            <a:off x="703183" y="2360600"/>
            <a:ext cx="7870898" cy="4906737"/>
          </a:xfrm>
          <a:prstGeom prst="rect">
            <a:avLst/>
          </a:prstGeom>
        </p:spPr>
        <p:txBody>
          <a:bodyPr anchor="t" rtlCol="false" tIns="0" lIns="0" bIns="0" rIns="0">
            <a:spAutoFit/>
          </a:bodyPr>
          <a:lstStyle/>
          <a:p>
            <a:pPr algn="l" marL="506730" indent="-168910" lvl="2">
              <a:lnSpc>
                <a:spcPts val="4320"/>
              </a:lnSpc>
              <a:buFont typeface="Arial"/>
              <a:buChar char="⚬"/>
            </a:pPr>
            <a:r>
              <a:rPr lang="en-US" sz="2400">
                <a:solidFill>
                  <a:srgbClr val="000000"/>
                </a:solidFill>
                <a:latin typeface="Arial"/>
                <a:ea typeface="Arial"/>
                <a:cs typeface="Arial"/>
                <a:sym typeface="Arial"/>
              </a:rPr>
              <a:t>Problem Statement and Objectives</a:t>
            </a:r>
          </a:p>
          <a:p>
            <a:pPr algn="l" marL="506730" indent="-168910" lvl="2">
              <a:lnSpc>
                <a:spcPts val="4320"/>
              </a:lnSpc>
              <a:buFont typeface="Arial"/>
              <a:buChar char="⚬"/>
            </a:pPr>
            <a:r>
              <a:rPr lang="en-US" sz="2400">
                <a:solidFill>
                  <a:srgbClr val="000000"/>
                </a:solidFill>
                <a:latin typeface="Arial"/>
                <a:ea typeface="Arial"/>
                <a:cs typeface="Arial"/>
                <a:sym typeface="Arial"/>
              </a:rPr>
              <a:t>Project Overview – Introduction</a:t>
            </a:r>
          </a:p>
          <a:p>
            <a:pPr algn="l" marL="506730" indent="-168910" lvl="2">
              <a:lnSpc>
                <a:spcPts val="4320"/>
              </a:lnSpc>
              <a:buFont typeface="Arial"/>
              <a:buChar char="⚬"/>
            </a:pPr>
            <a:r>
              <a:rPr lang="en-US" sz="2400">
                <a:solidFill>
                  <a:srgbClr val="000000"/>
                </a:solidFill>
                <a:latin typeface="Arial"/>
                <a:ea typeface="Arial"/>
                <a:cs typeface="Arial"/>
                <a:sym typeface="Arial"/>
              </a:rPr>
              <a:t>End Users</a:t>
            </a:r>
          </a:p>
          <a:p>
            <a:pPr algn="l" marL="506730" indent="-168910" lvl="2">
              <a:lnSpc>
                <a:spcPts val="4320"/>
              </a:lnSpc>
              <a:buFont typeface="Arial"/>
              <a:buChar char="⚬"/>
            </a:pPr>
            <a:r>
              <a:rPr lang="en-US" sz="2400">
                <a:solidFill>
                  <a:srgbClr val="000000"/>
                </a:solidFill>
                <a:latin typeface="Arial"/>
                <a:ea typeface="Arial"/>
                <a:cs typeface="Arial"/>
                <a:sym typeface="Arial"/>
              </a:rPr>
              <a:t>Wow Factor in Project</a:t>
            </a:r>
          </a:p>
          <a:p>
            <a:pPr algn="l" marL="506730" indent="-168910" lvl="2">
              <a:lnSpc>
                <a:spcPts val="4320"/>
              </a:lnSpc>
              <a:buFont typeface="Arial"/>
              <a:buChar char="⚬"/>
            </a:pPr>
            <a:r>
              <a:rPr lang="en-US" sz="2400">
                <a:solidFill>
                  <a:srgbClr val="000000"/>
                </a:solidFill>
                <a:latin typeface="Arial"/>
                <a:ea typeface="Arial"/>
                <a:cs typeface="Arial"/>
                <a:sym typeface="Arial"/>
              </a:rPr>
              <a:t>Result/outcomes</a:t>
            </a:r>
          </a:p>
          <a:p>
            <a:pPr algn="l" marL="506730" indent="-168910" lvl="2">
              <a:lnSpc>
                <a:spcPts val="4320"/>
              </a:lnSpc>
              <a:buFont typeface="Arial"/>
              <a:buChar char="⚬"/>
            </a:pPr>
            <a:r>
              <a:rPr lang="en-US" sz="2400">
                <a:solidFill>
                  <a:srgbClr val="000000"/>
                </a:solidFill>
                <a:latin typeface="Arial"/>
                <a:ea typeface="Arial"/>
                <a:cs typeface="Arial"/>
                <a:sym typeface="Arial"/>
              </a:rPr>
              <a:t>Conclusion</a:t>
            </a:r>
          </a:p>
          <a:p>
            <a:pPr algn="l" marL="506730" indent="-168910" lvl="2">
              <a:lnSpc>
                <a:spcPts val="4320"/>
              </a:lnSpc>
              <a:buFont typeface="Arial"/>
              <a:buChar char="⚬"/>
            </a:pPr>
            <a:r>
              <a:rPr lang="en-US" sz="2400">
                <a:solidFill>
                  <a:srgbClr val="000000"/>
                </a:solidFill>
                <a:latin typeface="Arial"/>
                <a:ea typeface="Arial"/>
                <a:cs typeface="Arial"/>
                <a:sym typeface="Arial"/>
              </a:rPr>
              <a:t>Future Perspective</a:t>
            </a:r>
          </a:p>
          <a:p>
            <a:pPr algn="l" marL="506730" indent="-168910" lvl="2">
              <a:lnSpc>
                <a:spcPts val="4320"/>
              </a:lnSpc>
              <a:buFont typeface="Arial"/>
              <a:buChar char="⚬"/>
            </a:pPr>
            <a:r>
              <a:rPr lang="en-US" sz="2400">
                <a:solidFill>
                  <a:srgbClr val="000000"/>
                </a:solidFill>
                <a:latin typeface="Arial"/>
                <a:ea typeface="Arial"/>
                <a:cs typeface="Arial"/>
                <a:sym typeface="Arial"/>
              </a:rPr>
              <a:t>Reference (Datalink, Github, Anyother websites)</a:t>
            </a:r>
          </a:p>
          <a:p>
            <a:pPr algn="l" marL="506730" indent="-168910" lvl="2">
              <a:lnSpc>
                <a:spcPts val="287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51"/>
            <a:chOff x="0" y="0"/>
            <a:chExt cx="3600450" cy="1151001"/>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2510" r="0" b="-2510"/>
              </a:stretch>
            </a:blipFill>
          </p:spPr>
        </p:sp>
      </p:grpSp>
      <p:sp>
        <p:nvSpPr>
          <p:cNvPr name="Freeform 4" id="4"/>
          <p:cNvSpPr/>
          <p:nvPr/>
        </p:nvSpPr>
        <p:spPr>
          <a:xfrm flipH="false" flipV="false" rot="0">
            <a:off x="-19050" y="-19050"/>
            <a:ext cx="14782800" cy="1114520"/>
          </a:xfrm>
          <a:custGeom>
            <a:avLst/>
            <a:gdLst/>
            <a:ahLst/>
            <a:cxnLst/>
            <a:rect r="r" b="b" t="t" l="l"/>
            <a:pathLst>
              <a:path h="1114520" w="14782800">
                <a:moveTo>
                  <a:pt x="0" y="0"/>
                </a:moveTo>
                <a:lnTo>
                  <a:pt x="14782800" y="0"/>
                </a:lnTo>
                <a:lnTo>
                  <a:pt x="14782800" y="1114520"/>
                </a:lnTo>
                <a:lnTo>
                  <a:pt x="0" y="11145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4833454" y="-629"/>
            <a:ext cx="168402" cy="1098518"/>
            <a:chOff x="0" y="0"/>
            <a:chExt cx="224536" cy="1464691"/>
          </a:xfrm>
        </p:grpSpPr>
        <p:sp>
          <p:nvSpPr>
            <p:cNvPr name="Freeform 6" id="6"/>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7" id="7"/>
          <p:cNvGrpSpPr/>
          <p:nvPr/>
        </p:nvGrpSpPr>
        <p:grpSpPr>
          <a:xfrm rot="0">
            <a:off x="0" y="-19050"/>
            <a:ext cx="14758988" cy="1085850"/>
            <a:chOff x="0" y="0"/>
            <a:chExt cx="19678650" cy="1447800"/>
          </a:xfrm>
        </p:grpSpPr>
        <p:sp>
          <p:nvSpPr>
            <p:cNvPr name="Freeform 8" id="8"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5">
                <a:alphaModFix amt="16000"/>
              </a:blip>
              <a:stretch>
                <a:fillRect l="0" t="-374753" r="0" b="-374753"/>
              </a:stretch>
            </a:blipFill>
          </p:spPr>
        </p:sp>
      </p:grpSp>
      <p:grpSp>
        <p:nvGrpSpPr>
          <p:cNvPr name="Group 9" id="9"/>
          <p:cNvGrpSpPr/>
          <p:nvPr/>
        </p:nvGrpSpPr>
        <p:grpSpPr>
          <a:xfrm rot="0">
            <a:off x="17887950" y="-629"/>
            <a:ext cx="400050" cy="1098518"/>
            <a:chOff x="0" y="0"/>
            <a:chExt cx="533400" cy="1464691"/>
          </a:xfrm>
        </p:grpSpPr>
        <p:sp>
          <p:nvSpPr>
            <p:cNvPr name="Freeform 10" id="10"/>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sp>
        <p:nvSpPr>
          <p:cNvPr name="TextBox 11" id="11"/>
          <p:cNvSpPr txBox="true"/>
          <p:nvPr/>
        </p:nvSpPr>
        <p:spPr>
          <a:xfrm rot="0">
            <a:off x="631460" y="1366676"/>
            <a:ext cx="16048025" cy="9620250"/>
          </a:xfrm>
          <a:prstGeom prst="rect">
            <a:avLst/>
          </a:prstGeom>
        </p:spPr>
        <p:txBody>
          <a:bodyPr anchor="t" rtlCol="false" tIns="0" lIns="0" bIns="0" rIns="0">
            <a:spAutoFit/>
          </a:bodyPr>
          <a:lstStyle/>
          <a:p>
            <a:pPr algn="l">
              <a:lnSpc>
                <a:spcPts val="3600"/>
              </a:lnSpc>
            </a:pPr>
            <a:r>
              <a:rPr lang="en-US" sz="3000" b="true">
                <a:solidFill>
                  <a:srgbClr val="213163"/>
                </a:solidFill>
                <a:latin typeface="Arial Bold"/>
                <a:ea typeface="Arial Bold"/>
                <a:cs typeface="Arial Bold"/>
                <a:sym typeface="Arial Bold"/>
              </a:rPr>
              <a:t>Problem Statement and Objectives:</a:t>
            </a:r>
          </a:p>
          <a:p>
            <a:pPr algn="l">
              <a:lnSpc>
                <a:spcPts val="3240"/>
              </a:lnSpc>
            </a:pPr>
          </a:p>
          <a:p>
            <a:pPr algn="l">
              <a:lnSpc>
                <a:spcPts val="3600"/>
              </a:lnSpc>
            </a:pPr>
            <a:r>
              <a:rPr lang="en-US" sz="3000" b="true">
                <a:solidFill>
                  <a:srgbClr val="213163"/>
                </a:solidFill>
                <a:latin typeface="Arial Bold"/>
                <a:ea typeface="Arial Bold"/>
                <a:cs typeface="Arial Bold"/>
                <a:sym typeface="Arial Bold"/>
              </a:rPr>
              <a:t>Problem Statement:</a:t>
            </a:r>
          </a:p>
          <a:p>
            <a:pPr algn="just">
              <a:lnSpc>
                <a:spcPts val="4860"/>
              </a:lnSpc>
            </a:pPr>
            <a:r>
              <a:rPr lang="en-US" sz="2700" b="true">
                <a:solidFill>
                  <a:srgbClr val="213163"/>
                </a:solidFill>
                <a:latin typeface="Arial Bold"/>
                <a:ea typeface="Arial Bold"/>
                <a:cs typeface="Arial Bold"/>
                <a:sym typeface="Arial Bold"/>
              </a:rPr>
              <a:t>         </a:t>
            </a:r>
            <a:r>
              <a:rPr lang="en-US" sz="2700">
                <a:solidFill>
                  <a:srgbClr val="000000"/>
                </a:solidFill>
                <a:latin typeface="Arial"/>
                <a:ea typeface="Arial"/>
                <a:cs typeface="Arial"/>
                <a:sym typeface="Arial"/>
              </a:rPr>
              <a:t>Flight delays are a common problem in the aviation industry and can cause inconvenience to passengers and financial loss to airlines. Delays occur due to factors like weather conditions, air traffic congestion, and operational issues. It is difficult to predict these delays accurately using traditional methods. Therefore, a Machine Learning based system is needed to analyze historical flight data and predict aircraft delays in advance. ✈️</a:t>
            </a:r>
          </a:p>
          <a:p>
            <a:pPr algn="just">
              <a:lnSpc>
                <a:spcPts val="3240"/>
              </a:lnSpc>
            </a:pPr>
          </a:p>
          <a:p>
            <a:pPr algn="just">
              <a:lnSpc>
                <a:spcPts val="3600"/>
              </a:lnSpc>
            </a:pPr>
            <a:r>
              <a:rPr lang="en-US" sz="3000" b="true">
                <a:solidFill>
                  <a:srgbClr val="002060"/>
                </a:solidFill>
                <a:latin typeface="Arial Bold"/>
                <a:ea typeface="Arial Bold"/>
                <a:cs typeface="Arial Bold"/>
                <a:sym typeface="Arial Bold"/>
              </a:rPr>
              <a:t>Objectives :</a:t>
            </a:r>
          </a:p>
          <a:p>
            <a:pPr algn="just" marL="570071" indent="-190024" lvl="2">
              <a:lnSpc>
                <a:spcPts val="4860"/>
              </a:lnSpc>
              <a:buAutoNum type="arabicPeriod" startAt="1"/>
            </a:pPr>
            <a:r>
              <a:rPr lang="en-US" sz="2700">
                <a:solidFill>
                  <a:srgbClr val="000000"/>
                </a:solidFill>
                <a:latin typeface="Arial"/>
                <a:ea typeface="Arial"/>
                <a:cs typeface="Arial"/>
                <a:sym typeface="Arial"/>
              </a:rPr>
              <a:t>To analyze historical flight data.</a:t>
            </a:r>
          </a:p>
          <a:p>
            <a:pPr algn="just" marL="570071" indent="-190024" lvl="2">
              <a:lnSpc>
                <a:spcPts val="3240"/>
              </a:lnSpc>
              <a:buAutoNum type="arabicPeriod" startAt="1"/>
            </a:pPr>
            <a:r>
              <a:rPr lang="en-US" sz="2700">
                <a:solidFill>
                  <a:srgbClr val="000000"/>
                </a:solidFill>
                <a:latin typeface="Arial"/>
                <a:ea typeface="Arial"/>
                <a:cs typeface="Arial"/>
                <a:sym typeface="Arial"/>
              </a:rPr>
              <a:t>To preprocess and clean the dataset.</a:t>
            </a:r>
          </a:p>
          <a:p>
            <a:pPr algn="just" marL="570071" indent="-190024" lvl="2">
              <a:lnSpc>
                <a:spcPts val="3240"/>
              </a:lnSpc>
              <a:buAutoNum type="arabicPeriod" startAt="1"/>
            </a:pPr>
            <a:r>
              <a:rPr lang="en-US" sz="2700">
                <a:solidFill>
                  <a:srgbClr val="000000"/>
                </a:solidFill>
                <a:latin typeface="Arial"/>
                <a:ea typeface="Arial"/>
                <a:cs typeface="Arial"/>
                <a:sym typeface="Arial"/>
              </a:rPr>
              <a:t>To develop a Machine Learning model.</a:t>
            </a:r>
          </a:p>
          <a:p>
            <a:pPr algn="just" marL="570071" indent="-190024" lvl="2">
              <a:lnSpc>
                <a:spcPts val="3240"/>
              </a:lnSpc>
              <a:buAutoNum type="arabicPeriod" startAt="1"/>
            </a:pPr>
            <a:r>
              <a:rPr lang="en-US" sz="2700">
                <a:solidFill>
                  <a:srgbClr val="000000"/>
                </a:solidFill>
                <a:latin typeface="Arial"/>
                <a:ea typeface="Arial"/>
                <a:cs typeface="Arial"/>
                <a:sym typeface="Arial"/>
              </a:rPr>
              <a:t>To train and test the model.</a:t>
            </a:r>
          </a:p>
          <a:p>
            <a:pPr algn="just" marL="570071" indent="-190024" lvl="2">
              <a:lnSpc>
                <a:spcPts val="3240"/>
              </a:lnSpc>
              <a:buAutoNum type="arabicPeriod" startAt="1"/>
            </a:pPr>
            <a:r>
              <a:rPr lang="en-US" sz="2700">
                <a:solidFill>
                  <a:srgbClr val="000000"/>
                </a:solidFill>
                <a:latin typeface="Arial"/>
                <a:ea typeface="Arial"/>
                <a:cs typeface="Arial"/>
                <a:sym typeface="Arial"/>
              </a:rPr>
              <a:t>To evaluate the model performance.</a:t>
            </a:r>
          </a:p>
          <a:p>
            <a:pPr algn="just" marL="570071" indent="-190024" lvl="2">
              <a:lnSpc>
                <a:spcPts val="3240"/>
              </a:lnSpc>
              <a:buAutoNum type="arabicPeriod" startAt="1"/>
            </a:pPr>
            <a:r>
              <a:rPr lang="en-US" sz="2700">
                <a:solidFill>
                  <a:srgbClr val="000000"/>
                </a:solidFill>
                <a:latin typeface="Arial"/>
                <a:ea typeface="Arial"/>
                <a:cs typeface="Arial"/>
                <a:sym typeface="Arial"/>
              </a:rPr>
              <a:t>To create a simple prediction tool .</a:t>
            </a:r>
          </a:p>
          <a:p>
            <a:pPr algn="just" marL="570071" indent="-190024" lvl="2">
              <a:lnSpc>
                <a:spcPts val="3240"/>
              </a:lnSpc>
              <a:buAutoNum type="arabicPeriod" startAt="1"/>
            </a:pPr>
            <a:r>
              <a:rPr lang="en-US" sz="2700">
                <a:solidFill>
                  <a:srgbClr val="000000"/>
                </a:solidFill>
                <a:latin typeface="Arial"/>
                <a:ea typeface="Arial"/>
                <a:cs typeface="Arial"/>
                <a:sym typeface="Arial"/>
              </a:rPr>
              <a:t>To help airlines and airports make better operational decisions.</a:t>
            </a:r>
          </a:p>
          <a:p>
            <a:pPr algn="just" marL="570071" indent="-190024" lvl="2">
              <a:lnSpc>
                <a:spcPts val="3240"/>
              </a:lnSpc>
            </a:pPr>
          </a:p>
          <a:p>
            <a:pPr algn="just" marL="570071" indent="-190024" lvl="2">
              <a:lnSpc>
                <a:spcPts val="3240"/>
              </a:lnSpc>
            </a:pPr>
          </a:p>
          <a:p>
            <a:pPr algn="just" marL="633412" indent="-211137" lvl="2">
              <a:lnSpc>
                <a:spcPts val="3600"/>
              </a:lnSpc>
            </a:pPr>
            <a:r>
              <a:rPr lang="en-US" b="true" sz="3000">
                <a:solidFill>
                  <a:srgbClr val="213163"/>
                </a:solidFill>
                <a:latin typeface="Arial Bold"/>
                <a:ea typeface="Arial Bold"/>
                <a:cs typeface="Arial Bold"/>
                <a:sym typeface="Arial Bold"/>
              </a:rPr>
              <a:t> </a:t>
            </a:r>
          </a:p>
        </p:txBody>
      </p:sp>
      <p:sp>
        <p:nvSpPr>
          <p:cNvPr name="Freeform 12" id="12"/>
          <p:cNvSpPr/>
          <p:nvPr/>
        </p:nvSpPr>
        <p:spPr>
          <a:xfrm flipH="false" flipV="false" rot="-891480">
            <a:off x="11763823" y="6112116"/>
            <a:ext cx="4591945" cy="3123524"/>
          </a:xfrm>
          <a:custGeom>
            <a:avLst/>
            <a:gdLst/>
            <a:ahLst/>
            <a:cxnLst/>
            <a:rect r="r" b="b" t="t" l="l"/>
            <a:pathLst>
              <a:path h="3123524" w="4591945">
                <a:moveTo>
                  <a:pt x="0" y="0"/>
                </a:moveTo>
                <a:lnTo>
                  <a:pt x="4591945" y="0"/>
                </a:lnTo>
                <a:lnTo>
                  <a:pt x="4591945" y="3123524"/>
                </a:lnTo>
                <a:lnTo>
                  <a:pt x="0" y="3123524"/>
                </a:lnTo>
                <a:lnTo>
                  <a:pt x="0" y="0"/>
                </a:lnTo>
                <a:close/>
              </a:path>
            </a:pathLst>
          </a:custGeom>
          <a:blipFill>
            <a:blip r:embed="rId6">
              <a:extLst>
                <a:ext uri="{96DAC541-7B7A-43D3-8B79-37D633B846F1}">
                  <asvg:svgBlip xmlns:asvg="http://schemas.microsoft.com/office/drawing/2016/SVG/main" r:embed="rId7"/>
                </a:ext>
              </a:extLst>
            </a:blip>
            <a:stretch>
              <a:fillRect l="-82" t="0" r="-83"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51"/>
            <a:chOff x="0" y="0"/>
            <a:chExt cx="3600450" cy="1151001"/>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2510" r="0" b="-2510"/>
              </a:stretch>
            </a:blipFill>
          </p:spPr>
        </p:sp>
      </p:grpSp>
      <p:sp>
        <p:nvSpPr>
          <p:cNvPr name="Freeform 4" id="4"/>
          <p:cNvSpPr/>
          <p:nvPr/>
        </p:nvSpPr>
        <p:spPr>
          <a:xfrm flipH="false" flipV="false" rot="0">
            <a:off x="-19050" y="-19050"/>
            <a:ext cx="14782800" cy="1114520"/>
          </a:xfrm>
          <a:custGeom>
            <a:avLst/>
            <a:gdLst/>
            <a:ahLst/>
            <a:cxnLst/>
            <a:rect r="r" b="b" t="t" l="l"/>
            <a:pathLst>
              <a:path h="1114520" w="14782800">
                <a:moveTo>
                  <a:pt x="0" y="0"/>
                </a:moveTo>
                <a:lnTo>
                  <a:pt x="14782800" y="0"/>
                </a:lnTo>
                <a:lnTo>
                  <a:pt x="14782800" y="1114520"/>
                </a:lnTo>
                <a:lnTo>
                  <a:pt x="0" y="11145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4833454" y="-629"/>
            <a:ext cx="168402" cy="1098518"/>
            <a:chOff x="0" y="0"/>
            <a:chExt cx="224536" cy="1464691"/>
          </a:xfrm>
        </p:grpSpPr>
        <p:sp>
          <p:nvSpPr>
            <p:cNvPr name="Freeform 6" id="6"/>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7" id="7"/>
          <p:cNvGrpSpPr/>
          <p:nvPr/>
        </p:nvGrpSpPr>
        <p:grpSpPr>
          <a:xfrm rot="0">
            <a:off x="0" y="-19050"/>
            <a:ext cx="14758988" cy="1085850"/>
            <a:chOff x="0" y="0"/>
            <a:chExt cx="19678650" cy="1447800"/>
          </a:xfrm>
        </p:grpSpPr>
        <p:sp>
          <p:nvSpPr>
            <p:cNvPr name="Freeform 8" id="8"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5">
                <a:alphaModFix amt="16000"/>
              </a:blip>
              <a:stretch>
                <a:fillRect l="0" t="-374753" r="0" b="-374753"/>
              </a:stretch>
            </a:blipFill>
          </p:spPr>
        </p:sp>
      </p:grpSp>
      <p:grpSp>
        <p:nvGrpSpPr>
          <p:cNvPr name="Group 9" id="9"/>
          <p:cNvGrpSpPr/>
          <p:nvPr/>
        </p:nvGrpSpPr>
        <p:grpSpPr>
          <a:xfrm rot="0">
            <a:off x="17887950" y="-629"/>
            <a:ext cx="400050" cy="1098518"/>
            <a:chOff x="0" y="0"/>
            <a:chExt cx="533400" cy="1464691"/>
          </a:xfrm>
        </p:grpSpPr>
        <p:sp>
          <p:nvSpPr>
            <p:cNvPr name="Freeform 10" id="10"/>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sp>
        <p:nvSpPr>
          <p:cNvPr name="TextBox 11" id="11"/>
          <p:cNvSpPr txBox="true"/>
          <p:nvPr/>
        </p:nvSpPr>
        <p:spPr>
          <a:xfrm rot="0">
            <a:off x="91440" y="1192187"/>
            <a:ext cx="16464096" cy="9329995"/>
          </a:xfrm>
          <a:prstGeom prst="rect">
            <a:avLst/>
          </a:prstGeom>
        </p:spPr>
        <p:txBody>
          <a:bodyPr anchor="t" rtlCol="false" tIns="0" lIns="0" bIns="0" rIns="0">
            <a:spAutoFit/>
          </a:bodyPr>
          <a:lstStyle/>
          <a:p>
            <a:pPr algn="l">
              <a:lnSpc>
                <a:spcPts val="3600"/>
              </a:lnSpc>
            </a:pPr>
            <a:r>
              <a:rPr lang="en-US" sz="3000" b="true">
                <a:solidFill>
                  <a:srgbClr val="213163"/>
                </a:solidFill>
                <a:latin typeface="Arial Bold"/>
                <a:ea typeface="Arial Bold"/>
                <a:cs typeface="Arial Bold"/>
                <a:sym typeface="Arial Bold"/>
              </a:rPr>
              <a:t>Project Overview – Introduction:</a:t>
            </a:r>
          </a:p>
          <a:p>
            <a:pPr algn="l">
              <a:lnSpc>
                <a:spcPts val="3600"/>
              </a:lnSpc>
            </a:pPr>
            <a:r>
              <a:rPr lang="en-US" sz="3000" b="true">
                <a:solidFill>
                  <a:srgbClr val="213163"/>
                </a:solidFill>
                <a:latin typeface="Arial Bold"/>
                <a:ea typeface="Arial Bold"/>
                <a:cs typeface="Arial Bold"/>
                <a:sym typeface="Arial Bold"/>
              </a:rPr>
              <a:t>   </a:t>
            </a:r>
          </a:p>
          <a:p>
            <a:pPr algn="just">
              <a:lnSpc>
                <a:spcPts val="4860"/>
              </a:lnSpc>
            </a:pPr>
            <a:r>
              <a:rPr lang="en-US" sz="2700" b="true">
                <a:solidFill>
                  <a:srgbClr val="213163"/>
                </a:solidFill>
                <a:latin typeface="Arial Bold"/>
                <a:ea typeface="Arial Bold"/>
                <a:cs typeface="Arial Bold"/>
                <a:sym typeface="Arial Bold"/>
              </a:rPr>
              <a:t>        </a:t>
            </a:r>
            <a:r>
              <a:rPr lang="en-US" sz="2700">
                <a:solidFill>
                  <a:srgbClr val="000000"/>
                </a:solidFill>
                <a:latin typeface="Arial"/>
                <a:ea typeface="Arial"/>
                <a:cs typeface="Arial"/>
                <a:sym typeface="Arial"/>
              </a:rPr>
              <a:t>Air transportation is an important mode of travel that connects people and businesses across the world. However, flight delays are a common problem in the aviation industry and can occur due to factors such as weather conditions, air traffic congestion, technical issues, and airport operations. These delays cause inconvenience to passengers, disturb travel schedules, and result in financial losses for airlines. With the growth of data and technology, </a:t>
            </a:r>
            <a:r>
              <a:rPr lang="en-US" sz="2700" b="true">
                <a:solidFill>
                  <a:srgbClr val="000000"/>
                </a:solidFill>
                <a:latin typeface="Arial Bold"/>
                <a:ea typeface="Arial Bold"/>
                <a:cs typeface="Arial Bold"/>
                <a:sym typeface="Arial Bold"/>
              </a:rPr>
              <a:t>Machine Learning</a:t>
            </a:r>
            <a:r>
              <a:rPr lang="en-US" sz="2700">
                <a:solidFill>
                  <a:srgbClr val="000000"/>
                </a:solidFill>
                <a:latin typeface="Arial"/>
                <a:ea typeface="Arial"/>
                <a:cs typeface="Arial"/>
                <a:sym typeface="Arial"/>
              </a:rPr>
              <a:t> can be used to analyze large amounts of historical flight data and identify patterns related to delays. Machine learning algorithms can learn from past data and help predict whether a flight is likely to be delayed or not. This project, </a:t>
            </a:r>
            <a:r>
              <a:rPr lang="en-US" sz="2700" b="true">
                <a:solidFill>
                  <a:srgbClr val="000000"/>
                </a:solidFill>
                <a:latin typeface="Arial Bold"/>
                <a:ea typeface="Arial Bold"/>
                <a:cs typeface="Arial Bold"/>
                <a:sym typeface="Arial Bold"/>
              </a:rPr>
              <a:t>Aircraft Delay Prediction Tool Using Machine Learning</a:t>
            </a:r>
            <a:r>
              <a:rPr lang="en-US" sz="2700">
                <a:solidFill>
                  <a:srgbClr val="000000"/>
                </a:solidFill>
                <a:latin typeface="Arial"/>
                <a:ea typeface="Arial"/>
                <a:cs typeface="Arial"/>
                <a:sym typeface="Arial"/>
              </a:rPr>
              <a:t>, aims to develop a predictive system that analyzes flight information and forecasts possible delays. By predicting delays in advance, airlines and airport authorities can improve planning, manage resources better, and reduce the impact of delays on passengers, making air travel more efficient and reliable. ✈️</a:t>
            </a:r>
          </a:p>
          <a:p>
            <a:pPr algn="l">
              <a:lnSpc>
                <a:spcPts val="4860"/>
              </a:lnSpc>
            </a:pPr>
          </a:p>
          <a:p>
            <a:pPr algn="l">
              <a:lnSpc>
                <a:spcPts val="3240"/>
              </a:lnSpc>
            </a:pPr>
          </a:p>
          <a:p>
            <a:pPr algn="l">
              <a:lnSpc>
                <a:spcPts val="324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51"/>
            <a:chOff x="0" y="0"/>
            <a:chExt cx="3600450" cy="1151001"/>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2510" r="0" b="-2510"/>
              </a:stretch>
            </a:blipFill>
          </p:spPr>
        </p:sp>
      </p:grpSp>
      <p:sp>
        <p:nvSpPr>
          <p:cNvPr name="Freeform 4" id="4"/>
          <p:cNvSpPr/>
          <p:nvPr/>
        </p:nvSpPr>
        <p:spPr>
          <a:xfrm flipH="false" flipV="false" rot="0">
            <a:off x="-19050" y="-19050"/>
            <a:ext cx="14782800" cy="1114520"/>
          </a:xfrm>
          <a:custGeom>
            <a:avLst/>
            <a:gdLst/>
            <a:ahLst/>
            <a:cxnLst/>
            <a:rect r="r" b="b" t="t" l="l"/>
            <a:pathLst>
              <a:path h="1114520" w="14782800">
                <a:moveTo>
                  <a:pt x="0" y="0"/>
                </a:moveTo>
                <a:lnTo>
                  <a:pt x="14782800" y="0"/>
                </a:lnTo>
                <a:lnTo>
                  <a:pt x="14782800" y="1114520"/>
                </a:lnTo>
                <a:lnTo>
                  <a:pt x="0" y="11145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4833454" y="-629"/>
            <a:ext cx="168402" cy="1098518"/>
            <a:chOff x="0" y="0"/>
            <a:chExt cx="224536" cy="1464691"/>
          </a:xfrm>
        </p:grpSpPr>
        <p:sp>
          <p:nvSpPr>
            <p:cNvPr name="Freeform 6" id="6"/>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7" id="7"/>
          <p:cNvGrpSpPr/>
          <p:nvPr/>
        </p:nvGrpSpPr>
        <p:grpSpPr>
          <a:xfrm rot="0">
            <a:off x="0" y="-19050"/>
            <a:ext cx="14758988" cy="1085850"/>
            <a:chOff x="0" y="0"/>
            <a:chExt cx="19678650" cy="1447800"/>
          </a:xfrm>
        </p:grpSpPr>
        <p:sp>
          <p:nvSpPr>
            <p:cNvPr name="Freeform 8" id="8"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5">
                <a:alphaModFix amt="16000"/>
              </a:blip>
              <a:stretch>
                <a:fillRect l="0" t="-374753" r="0" b="-374753"/>
              </a:stretch>
            </a:blipFill>
          </p:spPr>
        </p:sp>
      </p:grpSp>
      <p:grpSp>
        <p:nvGrpSpPr>
          <p:cNvPr name="Group 9" id="9"/>
          <p:cNvGrpSpPr/>
          <p:nvPr/>
        </p:nvGrpSpPr>
        <p:grpSpPr>
          <a:xfrm rot="0">
            <a:off x="17887950" y="-629"/>
            <a:ext cx="400050" cy="1098518"/>
            <a:chOff x="0" y="0"/>
            <a:chExt cx="533400" cy="1464691"/>
          </a:xfrm>
        </p:grpSpPr>
        <p:sp>
          <p:nvSpPr>
            <p:cNvPr name="Freeform 10" id="10"/>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grpSp>
        <p:nvGrpSpPr>
          <p:cNvPr name="Group 11" id="11"/>
          <p:cNvGrpSpPr/>
          <p:nvPr/>
        </p:nvGrpSpPr>
        <p:grpSpPr>
          <a:xfrm rot="0">
            <a:off x="8821836" y="1813474"/>
            <a:ext cx="6601968" cy="6601968"/>
            <a:chOff x="0" y="0"/>
            <a:chExt cx="8802624" cy="8802624"/>
          </a:xfrm>
        </p:grpSpPr>
        <p:sp>
          <p:nvSpPr>
            <p:cNvPr name="Freeform 12" id="12"/>
            <p:cNvSpPr/>
            <p:nvPr/>
          </p:nvSpPr>
          <p:spPr>
            <a:xfrm flipH="false" flipV="false" rot="0">
              <a:off x="0" y="0"/>
              <a:ext cx="8802624" cy="8802624"/>
            </a:xfrm>
            <a:custGeom>
              <a:avLst/>
              <a:gdLst/>
              <a:ahLst/>
              <a:cxnLst/>
              <a:rect r="r" b="b" t="t" l="l"/>
              <a:pathLst>
                <a:path h="8802624" w="8802624">
                  <a:moveTo>
                    <a:pt x="4401312" y="0"/>
                  </a:moveTo>
                  <a:cubicBezTo>
                    <a:pt x="1970532" y="0"/>
                    <a:pt x="0" y="1970532"/>
                    <a:pt x="0" y="4401312"/>
                  </a:cubicBezTo>
                  <a:cubicBezTo>
                    <a:pt x="0" y="6832092"/>
                    <a:pt x="1970532" y="8802624"/>
                    <a:pt x="4401312" y="8802624"/>
                  </a:cubicBezTo>
                  <a:cubicBezTo>
                    <a:pt x="6832092" y="8802624"/>
                    <a:pt x="8802624" y="6832092"/>
                    <a:pt x="8802624" y="4401312"/>
                  </a:cubicBezTo>
                  <a:cubicBezTo>
                    <a:pt x="8802624" y="1970532"/>
                    <a:pt x="6832092" y="0"/>
                    <a:pt x="4401312" y="0"/>
                  </a:cubicBezTo>
                  <a:close/>
                </a:path>
              </a:pathLst>
            </a:custGeom>
            <a:blipFill>
              <a:blip r:embed="rId6"/>
              <a:stretch>
                <a:fillRect l="-23407" t="0" r="-23407" b="0"/>
              </a:stretch>
            </a:blipFill>
          </p:spPr>
        </p:sp>
      </p:grpSp>
      <p:sp>
        <p:nvSpPr>
          <p:cNvPr name="TextBox 13" id="13"/>
          <p:cNvSpPr txBox="true"/>
          <p:nvPr/>
        </p:nvSpPr>
        <p:spPr>
          <a:xfrm rot="0">
            <a:off x="394545" y="1466421"/>
            <a:ext cx="8673255" cy="2732427"/>
          </a:xfrm>
          <a:prstGeom prst="rect">
            <a:avLst/>
          </a:prstGeom>
        </p:spPr>
        <p:txBody>
          <a:bodyPr anchor="t" rtlCol="false" tIns="0" lIns="0" bIns="0" rIns="0">
            <a:spAutoFit/>
          </a:bodyPr>
          <a:lstStyle/>
          <a:p>
            <a:pPr algn="l">
              <a:lnSpc>
                <a:spcPts val="3600"/>
              </a:lnSpc>
            </a:pPr>
            <a:r>
              <a:rPr lang="en-US" sz="3000" b="true">
                <a:solidFill>
                  <a:srgbClr val="213163"/>
                </a:solidFill>
                <a:latin typeface="Arial Bold"/>
                <a:ea typeface="Arial Bold"/>
                <a:cs typeface="Arial Bold"/>
                <a:sym typeface="Arial Bold"/>
              </a:rPr>
              <a:t>End Users :</a:t>
            </a:r>
          </a:p>
          <a:p>
            <a:pPr algn="l">
              <a:lnSpc>
                <a:spcPts val="3360"/>
              </a:lnSpc>
            </a:pPr>
          </a:p>
          <a:p>
            <a:pPr algn="l" marL="591230" indent="-197077" lvl="2">
              <a:lnSpc>
                <a:spcPts val="3360"/>
              </a:lnSpc>
              <a:buAutoNum type="arabicPeriod" startAt="1"/>
            </a:pPr>
            <a:r>
              <a:rPr lang="en-US" sz="2799">
                <a:solidFill>
                  <a:srgbClr val="000000"/>
                </a:solidFill>
                <a:latin typeface="Arial"/>
                <a:ea typeface="Arial"/>
                <a:cs typeface="Arial"/>
                <a:sym typeface="Arial"/>
              </a:rPr>
              <a:t>Airlines </a:t>
            </a:r>
          </a:p>
          <a:p>
            <a:pPr algn="l" marL="591230" indent="-197077" lvl="2">
              <a:lnSpc>
                <a:spcPts val="3360"/>
              </a:lnSpc>
              <a:buAutoNum type="arabicPeriod" startAt="1"/>
            </a:pPr>
            <a:r>
              <a:rPr lang="en-US" sz="2799">
                <a:solidFill>
                  <a:srgbClr val="000000"/>
                </a:solidFill>
                <a:latin typeface="Arial"/>
                <a:ea typeface="Arial"/>
                <a:cs typeface="Arial"/>
                <a:sym typeface="Arial"/>
              </a:rPr>
              <a:t>Airport Authorities</a:t>
            </a:r>
          </a:p>
          <a:p>
            <a:pPr algn="l" marL="591230" indent="-197077" lvl="2">
              <a:lnSpc>
                <a:spcPts val="3360"/>
              </a:lnSpc>
              <a:buAutoNum type="arabicPeriod" startAt="1"/>
            </a:pPr>
            <a:r>
              <a:rPr lang="en-US" sz="2799">
                <a:solidFill>
                  <a:srgbClr val="000000"/>
                </a:solidFill>
                <a:latin typeface="Arial"/>
                <a:ea typeface="Arial"/>
                <a:cs typeface="Arial"/>
                <a:sym typeface="Arial"/>
              </a:rPr>
              <a:t>Air Traffic Control (ATC)</a:t>
            </a:r>
          </a:p>
          <a:p>
            <a:pPr algn="l" marL="591230" indent="-197077" lvl="2">
              <a:lnSpc>
                <a:spcPts val="3360"/>
              </a:lnSpc>
              <a:buAutoNum type="arabicPeriod" startAt="1"/>
            </a:pPr>
            <a:r>
              <a:rPr lang="en-US" sz="2799">
                <a:solidFill>
                  <a:srgbClr val="000000"/>
                </a:solidFill>
                <a:latin typeface="Arial"/>
                <a:ea typeface="Arial"/>
                <a:cs typeface="Arial"/>
                <a:sym typeface="Arial"/>
              </a:rPr>
              <a:t>Passengers / Travelers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51"/>
            <a:chOff x="0" y="0"/>
            <a:chExt cx="3600450" cy="1151001"/>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2510" r="0" b="-2510"/>
              </a:stretch>
            </a:blipFill>
          </p:spPr>
        </p:sp>
      </p:grpSp>
      <p:sp>
        <p:nvSpPr>
          <p:cNvPr name="Freeform 4" id="4"/>
          <p:cNvSpPr/>
          <p:nvPr/>
        </p:nvSpPr>
        <p:spPr>
          <a:xfrm flipH="false" flipV="false" rot="0">
            <a:off x="-19050" y="-19050"/>
            <a:ext cx="14782800" cy="1114520"/>
          </a:xfrm>
          <a:custGeom>
            <a:avLst/>
            <a:gdLst/>
            <a:ahLst/>
            <a:cxnLst/>
            <a:rect r="r" b="b" t="t" l="l"/>
            <a:pathLst>
              <a:path h="1114520" w="14782800">
                <a:moveTo>
                  <a:pt x="0" y="0"/>
                </a:moveTo>
                <a:lnTo>
                  <a:pt x="14782800" y="0"/>
                </a:lnTo>
                <a:lnTo>
                  <a:pt x="14782800" y="1114520"/>
                </a:lnTo>
                <a:lnTo>
                  <a:pt x="0" y="11145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4833454" y="-629"/>
            <a:ext cx="168402" cy="1098518"/>
            <a:chOff x="0" y="0"/>
            <a:chExt cx="224536" cy="1464691"/>
          </a:xfrm>
        </p:grpSpPr>
        <p:sp>
          <p:nvSpPr>
            <p:cNvPr name="Freeform 6" id="6"/>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7" id="7"/>
          <p:cNvGrpSpPr/>
          <p:nvPr/>
        </p:nvGrpSpPr>
        <p:grpSpPr>
          <a:xfrm rot="0">
            <a:off x="0" y="-19050"/>
            <a:ext cx="14758988" cy="1085850"/>
            <a:chOff x="0" y="0"/>
            <a:chExt cx="19678650" cy="1447800"/>
          </a:xfrm>
        </p:grpSpPr>
        <p:sp>
          <p:nvSpPr>
            <p:cNvPr name="Freeform 8" id="8"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5">
                <a:alphaModFix amt="16000"/>
              </a:blip>
              <a:stretch>
                <a:fillRect l="0" t="-374753" r="0" b="-374753"/>
              </a:stretch>
            </a:blipFill>
          </p:spPr>
        </p:sp>
      </p:grpSp>
      <p:grpSp>
        <p:nvGrpSpPr>
          <p:cNvPr name="Group 9" id="9"/>
          <p:cNvGrpSpPr/>
          <p:nvPr/>
        </p:nvGrpSpPr>
        <p:grpSpPr>
          <a:xfrm rot="0">
            <a:off x="17887950" y="-629"/>
            <a:ext cx="400050" cy="1098518"/>
            <a:chOff x="0" y="0"/>
            <a:chExt cx="533400" cy="1464691"/>
          </a:xfrm>
        </p:grpSpPr>
        <p:sp>
          <p:nvSpPr>
            <p:cNvPr name="Freeform 10" id="10"/>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sp>
        <p:nvSpPr>
          <p:cNvPr name="TextBox 11" id="11"/>
          <p:cNvSpPr txBox="true"/>
          <p:nvPr/>
        </p:nvSpPr>
        <p:spPr>
          <a:xfrm rot="0">
            <a:off x="437950" y="1234850"/>
            <a:ext cx="13735250" cy="2824467"/>
          </a:xfrm>
          <a:prstGeom prst="rect">
            <a:avLst/>
          </a:prstGeom>
        </p:spPr>
        <p:txBody>
          <a:bodyPr anchor="t" rtlCol="false" tIns="0" lIns="0" bIns="0" rIns="0">
            <a:spAutoFit/>
          </a:bodyPr>
          <a:lstStyle/>
          <a:p>
            <a:pPr algn="l">
              <a:lnSpc>
                <a:spcPts val="3600"/>
              </a:lnSpc>
            </a:pPr>
            <a:r>
              <a:rPr lang="en-US" sz="3000" b="true">
                <a:solidFill>
                  <a:srgbClr val="213163"/>
                </a:solidFill>
                <a:latin typeface="Arial Bold"/>
                <a:ea typeface="Arial Bold"/>
                <a:cs typeface="Arial Bold"/>
                <a:sym typeface="Arial Bold"/>
              </a:rPr>
              <a:t>Wow Factors in Project :</a:t>
            </a:r>
          </a:p>
          <a:p>
            <a:pPr algn="l">
              <a:lnSpc>
                <a:spcPts val="3600"/>
              </a:lnSpc>
            </a:pPr>
          </a:p>
          <a:p>
            <a:pPr algn="l">
              <a:lnSpc>
                <a:spcPts val="3600"/>
              </a:lnSpc>
            </a:pPr>
          </a:p>
          <a:p>
            <a:pPr algn="l">
              <a:lnSpc>
                <a:spcPts val="3600"/>
              </a:lnSpc>
            </a:pPr>
          </a:p>
          <a:p>
            <a:pPr algn="l">
              <a:lnSpc>
                <a:spcPts val="3600"/>
              </a:lnSpc>
            </a:pPr>
          </a:p>
          <a:p>
            <a:pPr algn="l">
              <a:lnSpc>
                <a:spcPts val="3600"/>
              </a:lnSpc>
            </a:pPr>
          </a:p>
        </p:txBody>
      </p:sp>
      <p:grpSp>
        <p:nvGrpSpPr>
          <p:cNvPr name="Group 12" id="12"/>
          <p:cNvGrpSpPr/>
          <p:nvPr/>
        </p:nvGrpSpPr>
        <p:grpSpPr>
          <a:xfrm rot="0">
            <a:off x="827770" y="2166052"/>
            <a:ext cx="15934630" cy="3877980"/>
            <a:chOff x="0" y="0"/>
            <a:chExt cx="21246173" cy="5170640"/>
          </a:xfrm>
        </p:grpSpPr>
        <p:sp>
          <p:nvSpPr>
            <p:cNvPr name="Freeform 13" id="13"/>
            <p:cNvSpPr/>
            <p:nvPr/>
          </p:nvSpPr>
          <p:spPr>
            <a:xfrm flipH="false" flipV="false" rot="0">
              <a:off x="0" y="0"/>
              <a:ext cx="21246212" cy="5170678"/>
            </a:xfrm>
            <a:custGeom>
              <a:avLst/>
              <a:gdLst/>
              <a:ahLst/>
              <a:cxnLst/>
              <a:rect r="r" b="b" t="t" l="l"/>
              <a:pathLst>
                <a:path h="5170678" w="21246212">
                  <a:moveTo>
                    <a:pt x="0" y="0"/>
                  </a:moveTo>
                  <a:lnTo>
                    <a:pt x="21246212" y="0"/>
                  </a:lnTo>
                  <a:lnTo>
                    <a:pt x="21246212" y="5170678"/>
                  </a:lnTo>
                  <a:lnTo>
                    <a:pt x="0" y="5170678"/>
                  </a:lnTo>
                  <a:close/>
                </a:path>
              </a:pathLst>
            </a:custGeom>
            <a:blipFill>
              <a:blip r:embed="rId6">
                <a:alphaModFix amt="0"/>
              </a:blip>
              <a:stretch>
                <a:fillRect l="0" t="-30008" r="0" b="-30007"/>
              </a:stretch>
            </a:blipFill>
          </p:spPr>
        </p:sp>
      </p:grpSp>
      <p:grpSp>
        <p:nvGrpSpPr>
          <p:cNvPr name="Group 14" id="14"/>
          <p:cNvGrpSpPr/>
          <p:nvPr/>
        </p:nvGrpSpPr>
        <p:grpSpPr>
          <a:xfrm rot="0">
            <a:off x="827770" y="2037464"/>
            <a:ext cx="15934620" cy="4006567"/>
            <a:chOff x="0" y="0"/>
            <a:chExt cx="21246160" cy="5342090"/>
          </a:xfrm>
        </p:grpSpPr>
        <p:sp>
          <p:nvSpPr>
            <p:cNvPr name="Freeform 15" id="15"/>
            <p:cNvSpPr/>
            <p:nvPr/>
          </p:nvSpPr>
          <p:spPr>
            <a:xfrm flipH="false" flipV="false" rot="0">
              <a:off x="0" y="0"/>
              <a:ext cx="21246161" cy="5342090"/>
            </a:xfrm>
            <a:custGeom>
              <a:avLst/>
              <a:gdLst/>
              <a:ahLst/>
              <a:cxnLst/>
              <a:rect r="r" b="b" t="t" l="l"/>
              <a:pathLst>
                <a:path h="5342090" w="21246161">
                  <a:moveTo>
                    <a:pt x="0" y="0"/>
                  </a:moveTo>
                  <a:lnTo>
                    <a:pt x="21246161" y="0"/>
                  </a:lnTo>
                  <a:lnTo>
                    <a:pt x="21246161" y="5342090"/>
                  </a:lnTo>
                  <a:lnTo>
                    <a:pt x="0" y="5342090"/>
                  </a:lnTo>
                  <a:close/>
                </a:path>
              </a:pathLst>
            </a:custGeom>
            <a:blipFill>
              <a:blip r:embed="rId7">
                <a:alphaModFix amt="0"/>
              </a:blip>
              <a:stretch>
                <a:fillRect l="0" t="-27494" r="0" b="-27494"/>
              </a:stretch>
            </a:blipFill>
          </p:spPr>
        </p:sp>
        <p:sp>
          <p:nvSpPr>
            <p:cNvPr name="TextBox 16" id="16"/>
            <p:cNvSpPr txBox="true"/>
            <p:nvPr/>
          </p:nvSpPr>
          <p:spPr>
            <a:xfrm>
              <a:off x="0" y="-171450"/>
              <a:ext cx="21246160" cy="5513540"/>
            </a:xfrm>
            <a:prstGeom prst="rect">
              <a:avLst/>
            </a:prstGeom>
          </p:spPr>
          <p:txBody>
            <a:bodyPr anchor="ctr" rtlCol="false" tIns="0" lIns="0" bIns="0" rIns="0"/>
            <a:lstStyle/>
            <a:p>
              <a:pPr algn="just" marL="570071" indent="-190024" lvl="2">
                <a:lnSpc>
                  <a:spcPts val="4860"/>
                </a:lnSpc>
                <a:buFont typeface="Arial"/>
                <a:buChar char="⚬"/>
              </a:pPr>
              <a:r>
                <a:rPr lang="en-US" b="true" sz="2700">
                  <a:solidFill>
                    <a:srgbClr val="000000"/>
                  </a:solidFill>
                  <a:latin typeface="Arial Bold"/>
                  <a:ea typeface="Arial Bold"/>
                  <a:cs typeface="Arial Bold"/>
                  <a:sym typeface="Arial Bold"/>
                </a:rPr>
                <a:t> </a:t>
              </a:r>
              <a:r>
                <a:rPr lang="en-US" sz="2700">
                  <a:solidFill>
                    <a:srgbClr val="000000"/>
                  </a:solidFill>
                  <a:latin typeface="Arial"/>
                  <a:ea typeface="Arial"/>
                  <a:cs typeface="Arial"/>
                  <a:sym typeface="Arial"/>
                </a:rPr>
                <a:t>Uses Machine Learning to predict flight delays using real historical data.</a:t>
              </a:r>
            </a:p>
            <a:p>
              <a:pPr algn="just" marL="570071" indent="-190024" lvl="2">
                <a:lnSpc>
                  <a:spcPts val="4860"/>
                </a:lnSpc>
                <a:buFont typeface="Arial"/>
                <a:buChar char="⚬"/>
              </a:pPr>
              <a:r>
                <a:rPr lang="en-US" b="true" sz="2700">
                  <a:solidFill>
                    <a:srgbClr val="000000"/>
                  </a:solidFill>
                  <a:latin typeface="Arial Bold"/>
                  <a:ea typeface="Arial Bold"/>
                  <a:cs typeface="Arial Bold"/>
                  <a:sym typeface="Arial Bold"/>
                </a:rPr>
                <a:t> </a:t>
              </a:r>
              <a:r>
                <a:rPr lang="en-US" sz="2700">
                  <a:solidFill>
                    <a:srgbClr val="000000"/>
                  </a:solidFill>
                  <a:latin typeface="Arial"/>
                  <a:ea typeface="Arial"/>
                  <a:cs typeface="Arial"/>
                  <a:sym typeface="Arial"/>
                </a:rPr>
                <a:t>Early Delay Prediction helps airlines and passengers plan better.</a:t>
              </a:r>
            </a:p>
            <a:p>
              <a:pPr algn="just" marL="570071" indent="-190024" lvl="2">
                <a:lnSpc>
                  <a:spcPts val="4860"/>
                </a:lnSpc>
                <a:buFont typeface="Arial"/>
                <a:buChar char="⚬"/>
              </a:pPr>
              <a:r>
                <a:rPr lang="en-US" b="true" sz="2700">
                  <a:solidFill>
                    <a:srgbClr val="000000"/>
                  </a:solidFill>
                  <a:latin typeface="Arial Bold"/>
                  <a:ea typeface="Arial Bold"/>
                  <a:cs typeface="Arial Bold"/>
                  <a:sym typeface="Arial Bold"/>
                </a:rPr>
                <a:t> </a:t>
              </a:r>
              <a:r>
                <a:rPr lang="en-US" sz="2700">
                  <a:solidFill>
                    <a:srgbClr val="000000"/>
                  </a:solidFill>
                  <a:latin typeface="Arial"/>
                  <a:ea typeface="Arial"/>
                  <a:cs typeface="Arial"/>
                  <a:sym typeface="Arial"/>
                </a:rPr>
                <a:t>Data-Driven Decision Making for improving airline scheduling and airport operations.</a:t>
              </a:r>
            </a:p>
            <a:p>
              <a:pPr algn="just" marL="570071" indent="-190024" lvl="2">
                <a:lnSpc>
                  <a:spcPts val="4860"/>
                </a:lnSpc>
                <a:buFont typeface="Arial"/>
                <a:buChar char="⚬"/>
              </a:pPr>
              <a:r>
                <a:rPr lang="en-US" b="true" sz="2700">
                  <a:solidFill>
                    <a:srgbClr val="000000"/>
                  </a:solidFill>
                  <a:latin typeface="Arial Bold"/>
                  <a:ea typeface="Arial Bold"/>
                  <a:cs typeface="Arial Bold"/>
                  <a:sym typeface="Arial Bold"/>
                </a:rPr>
                <a:t> </a:t>
              </a:r>
              <a:r>
                <a:rPr lang="en-US" sz="2700">
                  <a:solidFill>
                    <a:srgbClr val="000000"/>
                  </a:solidFill>
                  <a:latin typeface="Arial"/>
                  <a:ea typeface="Arial"/>
                  <a:cs typeface="Arial"/>
                  <a:sym typeface="Arial"/>
                </a:rPr>
                <a:t>Improves Passenger Experience by giving advance information about delays.</a:t>
              </a:r>
            </a:p>
            <a:p>
              <a:pPr algn="just" marL="570071" indent="-190024" lvl="2">
                <a:lnSpc>
                  <a:spcPts val="4860"/>
                </a:lnSpc>
                <a:buFont typeface="Arial"/>
                <a:buChar char="⚬"/>
              </a:pPr>
              <a:r>
                <a:rPr lang="en-US" b="true" sz="2700">
                  <a:solidFill>
                    <a:srgbClr val="000000"/>
                  </a:solidFill>
                  <a:latin typeface="Arial Bold"/>
                  <a:ea typeface="Arial Bold"/>
                  <a:cs typeface="Arial Bold"/>
                  <a:sym typeface="Arial Bold"/>
                </a:rPr>
                <a:t> </a:t>
              </a:r>
              <a:r>
                <a:rPr lang="en-US" sz="2700">
                  <a:solidFill>
                    <a:srgbClr val="000000"/>
                  </a:solidFill>
                  <a:latin typeface="Arial"/>
                  <a:ea typeface="Arial"/>
                  <a:cs typeface="Arial"/>
                  <a:sym typeface="Arial"/>
                </a:rPr>
                <a:t>Efficient Resource Management for airports and airlines.</a:t>
              </a:r>
            </a:p>
            <a:p>
              <a:pPr algn="just" marL="570071" indent="-190024" lvl="2">
                <a:lnSpc>
                  <a:spcPts val="4860"/>
                </a:lnSpc>
                <a:buFont typeface="Arial"/>
                <a:buChar char="⚬"/>
              </a:pPr>
              <a:r>
                <a:rPr lang="en-US" b="true" sz="2700">
                  <a:solidFill>
                    <a:srgbClr val="000000"/>
                  </a:solidFill>
                  <a:latin typeface="Arial Bold"/>
                  <a:ea typeface="Arial Bold"/>
                  <a:cs typeface="Arial Bold"/>
                  <a:sym typeface="Arial Bold"/>
                </a:rPr>
                <a:t> </a:t>
              </a:r>
              <a:r>
                <a:rPr lang="en-US" sz="2700">
                  <a:solidFill>
                    <a:srgbClr val="000000"/>
                  </a:solidFill>
                  <a:latin typeface="Arial"/>
                  <a:ea typeface="Arial"/>
                  <a:cs typeface="Arial"/>
                  <a:sym typeface="Arial"/>
                </a:rPr>
                <a:t>Visualization</a:t>
              </a:r>
              <a:r>
                <a:rPr lang="en-US" b="true" sz="2700">
                  <a:solidFill>
                    <a:srgbClr val="000000"/>
                  </a:solidFill>
                  <a:latin typeface="Arial Bold"/>
                  <a:ea typeface="Arial Bold"/>
                  <a:cs typeface="Arial Bold"/>
                  <a:sym typeface="Arial Bold"/>
                </a:rPr>
                <a:t> </a:t>
              </a:r>
              <a:r>
                <a:rPr lang="en-US" sz="2700">
                  <a:solidFill>
                    <a:srgbClr val="000000"/>
                  </a:solidFill>
                  <a:latin typeface="Arial"/>
                  <a:ea typeface="Arial"/>
                  <a:cs typeface="Arial"/>
                  <a:sym typeface="Arial"/>
                </a:rPr>
                <a:t>of</a:t>
              </a:r>
              <a:r>
                <a:rPr lang="en-US" b="true" sz="2700">
                  <a:solidFill>
                    <a:srgbClr val="000000"/>
                  </a:solidFill>
                  <a:latin typeface="Arial Bold"/>
                  <a:ea typeface="Arial Bold"/>
                  <a:cs typeface="Arial Bold"/>
                  <a:sym typeface="Arial Bold"/>
                </a:rPr>
                <a:t> </a:t>
              </a:r>
              <a:r>
                <a:rPr lang="en-US" sz="2700">
                  <a:solidFill>
                    <a:srgbClr val="000000"/>
                  </a:solidFill>
                  <a:latin typeface="Arial"/>
                  <a:ea typeface="Arial"/>
                  <a:cs typeface="Arial"/>
                  <a:sym typeface="Arial"/>
                </a:rPr>
                <a:t>Data using graphs and analysis to understand delay patterns. ✈️</a:t>
              </a:r>
            </a:p>
          </p:txBody>
        </p:sp>
      </p:grpSp>
      <p:grpSp>
        <p:nvGrpSpPr>
          <p:cNvPr name="Group 17" id="17"/>
          <p:cNvGrpSpPr/>
          <p:nvPr/>
        </p:nvGrpSpPr>
        <p:grpSpPr>
          <a:xfrm rot="0">
            <a:off x="9414415" y="6511414"/>
            <a:ext cx="7844885" cy="3137954"/>
            <a:chOff x="0" y="0"/>
            <a:chExt cx="10459847" cy="4183939"/>
          </a:xfrm>
        </p:grpSpPr>
        <p:sp>
          <p:nvSpPr>
            <p:cNvPr name="Freeform 18" id="18"/>
            <p:cNvSpPr/>
            <p:nvPr/>
          </p:nvSpPr>
          <p:spPr>
            <a:xfrm flipH="false" flipV="false" rot="0">
              <a:off x="0" y="0"/>
              <a:ext cx="10459847" cy="4183888"/>
            </a:xfrm>
            <a:custGeom>
              <a:avLst/>
              <a:gdLst/>
              <a:ahLst/>
              <a:cxnLst/>
              <a:rect r="r" b="b" t="t" l="l"/>
              <a:pathLst>
                <a:path h="4183888" w="10459847">
                  <a:moveTo>
                    <a:pt x="0" y="0"/>
                  </a:moveTo>
                  <a:lnTo>
                    <a:pt x="10459847" y="0"/>
                  </a:lnTo>
                  <a:lnTo>
                    <a:pt x="10459847" y="4183888"/>
                  </a:lnTo>
                  <a:lnTo>
                    <a:pt x="0" y="4183888"/>
                  </a:lnTo>
                  <a:lnTo>
                    <a:pt x="0" y="0"/>
                  </a:lnTo>
                  <a:close/>
                </a:path>
              </a:pathLst>
            </a:custGeom>
            <a:blipFill>
              <a:blip r:embed="rId8"/>
              <a:stretch>
                <a:fillRect l="-39" t="0" r="-39" b="-1"/>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51"/>
            <a:chOff x="0" y="0"/>
            <a:chExt cx="3600450" cy="1151001"/>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2510" r="0" b="-2510"/>
              </a:stretch>
            </a:blipFill>
          </p:spPr>
        </p:sp>
      </p:grpSp>
      <p:sp>
        <p:nvSpPr>
          <p:cNvPr name="Freeform 4" id="4"/>
          <p:cNvSpPr/>
          <p:nvPr/>
        </p:nvSpPr>
        <p:spPr>
          <a:xfrm flipH="false" flipV="false" rot="0">
            <a:off x="-19050" y="-19050"/>
            <a:ext cx="14782800" cy="1114520"/>
          </a:xfrm>
          <a:custGeom>
            <a:avLst/>
            <a:gdLst/>
            <a:ahLst/>
            <a:cxnLst/>
            <a:rect r="r" b="b" t="t" l="l"/>
            <a:pathLst>
              <a:path h="1114520" w="14782800">
                <a:moveTo>
                  <a:pt x="0" y="0"/>
                </a:moveTo>
                <a:lnTo>
                  <a:pt x="14782800" y="0"/>
                </a:lnTo>
                <a:lnTo>
                  <a:pt x="14782800" y="1114520"/>
                </a:lnTo>
                <a:lnTo>
                  <a:pt x="0" y="11145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4833454" y="-629"/>
            <a:ext cx="168402" cy="1098518"/>
            <a:chOff x="0" y="0"/>
            <a:chExt cx="224536" cy="1464691"/>
          </a:xfrm>
        </p:grpSpPr>
        <p:sp>
          <p:nvSpPr>
            <p:cNvPr name="Freeform 6" id="6"/>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7" id="7"/>
          <p:cNvGrpSpPr/>
          <p:nvPr/>
        </p:nvGrpSpPr>
        <p:grpSpPr>
          <a:xfrm rot="0">
            <a:off x="0" y="-19050"/>
            <a:ext cx="14758988" cy="1085850"/>
            <a:chOff x="0" y="0"/>
            <a:chExt cx="19678650" cy="1447800"/>
          </a:xfrm>
        </p:grpSpPr>
        <p:sp>
          <p:nvSpPr>
            <p:cNvPr name="Freeform 8" id="8"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5">
                <a:alphaModFix amt="16000"/>
              </a:blip>
              <a:stretch>
                <a:fillRect l="0" t="-374753" r="0" b="-374753"/>
              </a:stretch>
            </a:blipFill>
          </p:spPr>
        </p:sp>
      </p:grpSp>
      <p:grpSp>
        <p:nvGrpSpPr>
          <p:cNvPr name="Group 9" id="9"/>
          <p:cNvGrpSpPr/>
          <p:nvPr/>
        </p:nvGrpSpPr>
        <p:grpSpPr>
          <a:xfrm rot="0">
            <a:off x="17887950" y="-629"/>
            <a:ext cx="400050" cy="1098518"/>
            <a:chOff x="0" y="0"/>
            <a:chExt cx="533400" cy="1464691"/>
          </a:xfrm>
        </p:grpSpPr>
        <p:sp>
          <p:nvSpPr>
            <p:cNvPr name="Freeform 10" id="10"/>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sp>
        <p:nvSpPr>
          <p:cNvPr name="TextBox 11" id="11"/>
          <p:cNvSpPr txBox="true"/>
          <p:nvPr/>
        </p:nvSpPr>
        <p:spPr>
          <a:xfrm rot="0">
            <a:off x="394545" y="1466421"/>
            <a:ext cx="8673255" cy="1470155"/>
          </a:xfrm>
          <a:prstGeom prst="rect">
            <a:avLst/>
          </a:prstGeom>
        </p:spPr>
        <p:txBody>
          <a:bodyPr anchor="t" rtlCol="false" tIns="0" lIns="0" bIns="0" rIns="0">
            <a:spAutoFit/>
          </a:bodyPr>
          <a:lstStyle/>
          <a:p>
            <a:pPr algn="l">
              <a:lnSpc>
                <a:spcPts val="3600"/>
              </a:lnSpc>
            </a:pPr>
            <a:r>
              <a:rPr lang="en-US" sz="3000" b="true">
                <a:solidFill>
                  <a:srgbClr val="213163"/>
                </a:solidFill>
                <a:latin typeface="Arial Bold"/>
                <a:ea typeface="Arial Bold"/>
                <a:cs typeface="Arial Bold"/>
                <a:sym typeface="Arial Bold"/>
              </a:rPr>
              <a:t>Technology Stack:</a:t>
            </a:r>
          </a:p>
          <a:p>
            <a:pPr algn="l">
              <a:lnSpc>
                <a:spcPts val="3600"/>
              </a:lnSpc>
            </a:pPr>
          </a:p>
          <a:p>
            <a:pPr algn="l">
              <a:lnSpc>
                <a:spcPts val="3600"/>
              </a:lnSpc>
            </a:pPr>
          </a:p>
        </p:txBody>
      </p:sp>
      <p:grpSp>
        <p:nvGrpSpPr>
          <p:cNvPr name="Group 12" id="12"/>
          <p:cNvGrpSpPr/>
          <p:nvPr/>
        </p:nvGrpSpPr>
        <p:grpSpPr>
          <a:xfrm rot="0">
            <a:off x="813140" y="2741305"/>
            <a:ext cx="13242084" cy="2631491"/>
            <a:chOff x="0" y="0"/>
            <a:chExt cx="17656112" cy="3508654"/>
          </a:xfrm>
        </p:grpSpPr>
        <p:sp>
          <p:nvSpPr>
            <p:cNvPr name="Freeform 13" id="13"/>
            <p:cNvSpPr/>
            <p:nvPr/>
          </p:nvSpPr>
          <p:spPr>
            <a:xfrm flipH="false" flipV="false" rot="0">
              <a:off x="0" y="0"/>
              <a:ext cx="17656175" cy="3508629"/>
            </a:xfrm>
            <a:custGeom>
              <a:avLst/>
              <a:gdLst/>
              <a:ahLst/>
              <a:cxnLst/>
              <a:rect r="r" b="b" t="t" l="l"/>
              <a:pathLst>
                <a:path h="3508629" w="17656175">
                  <a:moveTo>
                    <a:pt x="0" y="0"/>
                  </a:moveTo>
                  <a:lnTo>
                    <a:pt x="17656175" y="0"/>
                  </a:lnTo>
                  <a:lnTo>
                    <a:pt x="17656175" y="3508629"/>
                  </a:lnTo>
                  <a:lnTo>
                    <a:pt x="0" y="3508629"/>
                  </a:lnTo>
                  <a:close/>
                </a:path>
              </a:pathLst>
            </a:custGeom>
            <a:blipFill>
              <a:blip r:embed="rId6">
                <a:alphaModFix amt="0"/>
              </a:blip>
              <a:stretch>
                <a:fillRect l="0" t="-47984" r="0" b="-47984"/>
              </a:stretch>
            </a:blipFill>
          </p:spPr>
        </p:sp>
      </p:grpSp>
      <p:grpSp>
        <p:nvGrpSpPr>
          <p:cNvPr name="Group 14" id="14"/>
          <p:cNvGrpSpPr/>
          <p:nvPr/>
        </p:nvGrpSpPr>
        <p:grpSpPr>
          <a:xfrm rot="0">
            <a:off x="813140" y="2727017"/>
            <a:ext cx="13242084" cy="2645778"/>
            <a:chOff x="0" y="0"/>
            <a:chExt cx="17656112" cy="3527704"/>
          </a:xfrm>
        </p:grpSpPr>
        <p:sp>
          <p:nvSpPr>
            <p:cNvPr name="Freeform 15" id="15"/>
            <p:cNvSpPr/>
            <p:nvPr/>
          </p:nvSpPr>
          <p:spPr>
            <a:xfrm flipH="false" flipV="false" rot="0">
              <a:off x="0" y="0"/>
              <a:ext cx="17656111" cy="3527705"/>
            </a:xfrm>
            <a:custGeom>
              <a:avLst/>
              <a:gdLst/>
              <a:ahLst/>
              <a:cxnLst/>
              <a:rect r="r" b="b" t="t" l="l"/>
              <a:pathLst>
                <a:path h="3527705" w="17656111">
                  <a:moveTo>
                    <a:pt x="0" y="0"/>
                  </a:moveTo>
                  <a:lnTo>
                    <a:pt x="17656111" y="0"/>
                  </a:lnTo>
                  <a:lnTo>
                    <a:pt x="17656111" y="3527705"/>
                  </a:lnTo>
                  <a:lnTo>
                    <a:pt x="0" y="3527705"/>
                  </a:lnTo>
                  <a:close/>
                </a:path>
              </a:pathLst>
            </a:custGeom>
            <a:blipFill>
              <a:blip r:embed="rId7">
                <a:alphaModFix amt="0"/>
              </a:blip>
              <a:stretch>
                <a:fillRect l="0" t="-47522" r="0" b="-47522"/>
              </a:stretch>
            </a:blipFill>
          </p:spPr>
        </p:sp>
        <p:sp>
          <p:nvSpPr>
            <p:cNvPr name="TextBox 16" id="16"/>
            <p:cNvSpPr txBox="true"/>
            <p:nvPr/>
          </p:nvSpPr>
          <p:spPr>
            <a:xfrm>
              <a:off x="0" y="-19050"/>
              <a:ext cx="17656112" cy="3546754"/>
            </a:xfrm>
            <a:prstGeom prst="rect">
              <a:avLst/>
            </a:prstGeom>
          </p:spPr>
          <p:txBody>
            <a:bodyPr anchor="ctr" rtlCol="false" tIns="0" lIns="0" bIns="0" rIns="0"/>
            <a:lstStyle/>
            <a:p>
              <a:pPr algn="l" marL="570071" indent="-190024" lvl="2">
                <a:lnSpc>
                  <a:spcPts val="3240"/>
                </a:lnSpc>
                <a:buAutoNum type="arabicPeriod" startAt="1"/>
              </a:pPr>
              <a:r>
                <a:rPr lang="en-US" sz="2700">
                  <a:solidFill>
                    <a:srgbClr val="000000"/>
                  </a:solidFill>
                  <a:latin typeface="Arial"/>
                  <a:ea typeface="Arial"/>
                  <a:cs typeface="Arial"/>
                  <a:sym typeface="Arial"/>
                </a:rPr>
                <a:t>Programming Language</a:t>
              </a:r>
              <a:r>
                <a:rPr lang="en-US" b="true" sz="2700">
                  <a:solidFill>
                    <a:srgbClr val="000000"/>
                  </a:solidFill>
                  <a:latin typeface="Arial Bold"/>
                  <a:ea typeface="Arial Bold"/>
                  <a:cs typeface="Arial Bold"/>
                  <a:sym typeface="Arial Bold"/>
                </a:rPr>
                <a:t>:</a:t>
              </a:r>
              <a:r>
                <a:rPr lang="en-US" sz="2700">
                  <a:solidFill>
                    <a:srgbClr val="000000"/>
                  </a:solidFill>
                  <a:latin typeface="Arial"/>
                  <a:ea typeface="Arial"/>
                  <a:cs typeface="Arial"/>
                  <a:sym typeface="Arial"/>
                </a:rPr>
                <a:t> Python</a:t>
              </a:r>
            </a:p>
            <a:p>
              <a:pPr algn="l" marL="570071" indent="-190024" lvl="2">
                <a:lnSpc>
                  <a:spcPts val="3240"/>
                </a:lnSpc>
                <a:buAutoNum type="arabicPeriod" startAt="1"/>
              </a:pPr>
              <a:r>
                <a:rPr lang="en-US" sz="2700">
                  <a:solidFill>
                    <a:srgbClr val="000000"/>
                  </a:solidFill>
                  <a:latin typeface="Arial"/>
                  <a:ea typeface="Arial"/>
                  <a:cs typeface="Arial"/>
                  <a:sym typeface="Arial"/>
                </a:rPr>
                <a:t>Libraries</a:t>
              </a:r>
              <a:r>
                <a:rPr lang="en-US" b="true" sz="2700">
                  <a:solidFill>
                    <a:srgbClr val="000000"/>
                  </a:solidFill>
                  <a:latin typeface="Arial Bold"/>
                  <a:ea typeface="Arial Bold"/>
                  <a:cs typeface="Arial Bold"/>
                  <a:sym typeface="Arial Bold"/>
                </a:rPr>
                <a:t>:</a:t>
              </a:r>
              <a:r>
                <a:rPr lang="en-US" sz="2700">
                  <a:solidFill>
                    <a:srgbClr val="000000"/>
                  </a:solidFill>
                  <a:latin typeface="Arial"/>
                  <a:ea typeface="Arial"/>
                  <a:cs typeface="Arial"/>
                  <a:sym typeface="Arial"/>
                </a:rPr>
                <a:t> Pandas, NumPy, Scikit-learn, Matplotlib, Seaborn</a:t>
              </a:r>
            </a:p>
            <a:p>
              <a:pPr algn="l" marL="570071" indent="-190024" lvl="2">
                <a:lnSpc>
                  <a:spcPts val="3240"/>
                </a:lnSpc>
                <a:buAutoNum type="arabicPeriod" startAt="1"/>
              </a:pPr>
              <a:r>
                <a:rPr lang="en-US" sz="2700">
                  <a:solidFill>
                    <a:srgbClr val="000000"/>
                  </a:solidFill>
                  <a:latin typeface="Arial"/>
                  <a:ea typeface="Arial"/>
                  <a:cs typeface="Arial"/>
                  <a:sym typeface="Arial"/>
                </a:rPr>
                <a:t>Machine Learning Algorithms</a:t>
              </a:r>
              <a:r>
                <a:rPr lang="en-US" b="true" sz="2700">
                  <a:solidFill>
                    <a:srgbClr val="000000"/>
                  </a:solidFill>
                  <a:latin typeface="Arial Bold"/>
                  <a:ea typeface="Arial Bold"/>
                  <a:cs typeface="Arial Bold"/>
                  <a:sym typeface="Arial Bold"/>
                </a:rPr>
                <a:t>:</a:t>
              </a:r>
              <a:r>
                <a:rPr lang="en-US" sz="2700">
                  <a:solidFill>
                    <a:srgbClr val="000000"/>
                  </a:solidFill>
                  <a:latin typeface="Arial"/>
                  <a:ea typeface="Arial"/>
                  <a:cs typeface="Arial"/>
                  <a:sym typeface="Arial"/>
                </a:rPr>
                <a:t> Random Forest, Support Vector Machine (SVM)</a:t>
              </a:r>
            </a:p>
            <a:p>
              <a:pPr algn="l" marL="570071" indent="-190024" lvl="2">
                <a:lnSpc>
                  <a:spcPts val="3240"/>
                </a:lnSpc>
                <a:buAutoNum type="arabicPeriod" startAt="1"/>
              </a:pPr>
              <a:r>
                <a:rPr lang="en-US" sz="2700">
                  <a:solidFill>
                    <a:srgbClr val="000000"/>
                  </a:solidFill>
                  <a:latin typeface="Arial"/>
                  <a:ea typeface="Arial"/>
                  <a:cs typeface="Arial"/>
                  <a:sym typeface="Arial"/>
                </a:rPr>
                <a:t>Development Environment</a:t>
              </a:r>
              <a:r>
                <a:rPr lang="en-US" b="true" sz="2700">
                  <a:solidFill>
                    <a:srgbClr val="000000"/>
                  </a:solidFill>
                  <a:latin typeface="Arial Bold"/>
                  <a:ea typeface="Arial Bold"/>
                  <a:cs typeface="Arial Bold"/>
                  <a:sym typeface="Arial Bold"/>
                </a:rPr>
                <a:t>:</a:t>
              </a:r>
              <a:r>
                <a:rPr lang="en-US" sz="2700">
                  <a:solidFill>
                    <a:srgbClr val="000000"/>
                  </a:solidFill>
                  <a:latin typeface="Arial"/>
                  <a:ea typeface="Arial"/>
                  <a:cs typeface="Arial"/>
                  <a:sym typeface="Arial"/>
                </a:rPr>
                <a:t> Visual Studio Code or Jupyter Notebook</a:t>
              </a:r>
            </a:p>
            <a:p>
              <a:pPr algn="l" marL="570071" indent="-190024" lvl="2">
                <a:lnSpc>
                  <a:spcPts val="3240"/>
                </a:lnSpc>
                <a:buAutoNum type="arabicPeriod" startAt="1"/>
              </a:pPr>
              <a:r>
                <a:rPr lang="en-US" sz="2700">
                  <a:solidFill>
                    <a:srgbClr val="000000"/>
                  </a:solidFill>
                  <a:latin typeface="Arial"/>
                  <a:ea typeface="Arial"/>
                  <a:cs typeface="Arial"/>
                  <a:sym typeface="Arial"/>
                </a:rPr>
                <a:t>Dataset Format</a:t>
              </a:r>
              <a:r>
                <a:rPr lang="en-US" b="true" sz="2700">
                  <a:solidFill>
                    <a:srgbClr val="000000"/>
                  </a:solidFill>
                  <a:latin typeface="Arial Bold"/>
                  <a:ea typeface="Arial Bold"/>
                  <a:cs typeface="Arial Bold"/>
                  <a:sym typeface="Arial Bold"/>
                </a:rPr>
                <a:t>:</a:t>
              </a:r>
              <a:r>
                <a:rPr lang="en-US" sz="2700">
                  <a:solidFill>
                    <a:srgbClr val="000000"/>
                  </a:solidFill>
                  <a:latin typeface="Arial"/>
                  <a:ea typeface="Arial"/>
                  <a:cs typeface="Arial"/>
                  <a:sym typeface="Arial"/>
                </a:rPr>
                <a:t> CSV (Flight Delay Dataset)</a:t>
              </a:r>
            </a:p>
            <a:p>
              <a:pPr algn="l" marL="570071" indent="-190024" lvl="2">
                <a:lnSpc>
                  <a:spcPts val="3240"/>
                </a:lnSpc>
                <a:buAutoNum type="arabicPeriod" startAt="1"/>
              </a:pPr>
              <a:r>
                <a:rPr lang="en-US" sz="2700">
                  <a:solidFill>
                    <a:srgbClr val="000000"/>
                  </a:solidFill>
                  <a:latin typeface="Arial"/>
                  <a:ea typeface="Arial"/>
                  <a:cs typeface="Arial"/>
                  <a:sym typeface="Arial"/>
                </a:rPr>
                <a:t>Model Saving</a:t>
              </a:r>
              <a:r>
                <a:rPr lang="en-US" b="true" sz="2700">
                  <a:solidFill>
                    <a:srgbClr val="000000"/>
                  </a:solidFill>
                  <a:latin typeface="Arial Bold"/>
                  <a:ea typeface="Arial Bold"/>
                  <a:cs typeface="Arial Bold"/>
                  <a:sym typeface="Arial Bold"/>
                </a:rPr>
                <a:t>:</a:t>
              </a:r>
              <a:r>
                <a:rPr lang="en-US" sz="2700">
                  <a:solidFill>
                    <a:srgbClr val="000000"/>
                  </a:solidFill>
                  <a:latin typeface="Arial"/>
                  <a:ea typeface="Arial"/>
                  <a:cs typeface="Arial"/>
                  <a:sym typeface="Arial"/>
                </a:rPr>
                <a:t> Joblib or Pickle</a:t>
              </a:r>
            </a:p>
          </p:txBody>
        </p:sp>
      </p:grpSp>
      <p:sp>
        <p:nvSpPr>
          <p:cNvPr name="Freeform 17" id="17"/>
          <p:cNvSpPr/>
          <p:nvPr/>
        </p:nvSpPr>
        <p:spPr>
          <a:xfrm flipH="false" flipV="false" rot="0">
            <a:off x="9944100" y="4266554"/>
            <a:ext cx="7315200" cy="5632255"/>
          </a:xfrm>
          <a:custGeom>
            <a:avLst/>
            <a:gdLst/>
            <a:ahLst/>
            <a:cxnLst/>
            <a:rect r="r" b="b" t="t" l="l"/>
            <a:pathLst>
              <a:path h="5632255" w="7315200">
                <a:moveTo>
                  <a:pt x="0" y="0"/>
                </a:moveTo>
                <a:lnTo>
                  <a:pt x="7315200" y="0"/>
                </a:lnTo>
                <a:lnTo>
                  <a:pt x="7315200" y="5632255"/>
                </a:lnTo>
                <a:lnTo>
                  <a:pt x="0" y="56322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51"/>
            <a:chOff x="0" y="0"/>
            <a:chExt cx="3600450" cy="1151001"/>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2510" r="0" b="-2510"/>
              </a:stretch>
            </a:blipFill>
          </p:spPr>
        </p:sp>
      </p:grpSp>
      <p:sp>
        <p:nvSpPr>
          <p:cNvPr name="Freeform 4" id="4"/>
          <p:cNvSpPr/>
          <p:nvPr/>
        </p:nvSpPr>
        <p:spPr>
          <a:xfrm flipH="false" flipV="false" rot="0">
            <a:off x="-19050" y="-19050"/>
            <a:ext cx="14782800" cy="1114520"/>
          </a:xfrm>
          <a:custGeom>
            <a:avLst/>
            <a:gdLst/>
            <a:ahLst/>
            <a:cxnLst/>
            <a:rect r="r" b="b" t="t" l="l"/>
            <a:pathLst>
              <a:path h="1114520" w="14782800">
                <a:moveTo>
                  <a:pt x="0" y="0"/>
                </a:moveTo>
                <a:lnTo>
                  <a:pt x="14782800" y="0"/>
                </a:lnTo>
                <a:lnTo>
                  <a:pt x="14782800" y="1114520"/>
                </a:lnTo>
                <a:lnTo>
                  <a:pt x="0" y="11145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4833454" y="-629"/>
            <a:ext cx="168402" cy="1098518"/>
            <a:chOff x="0" y="0"/>
            <a:chExt cx="224536" cy="1464691"/>
          </a:xfrm>
        </p:grpSpPr>
        <p:sp>
          <p:nvSpPr>
            <p:cNvPr name="Freeform 6" id="6"/>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7" id="7"/>
          <p:cNvGrpSpPr/>
          <p:nvPr/>
        </p:nvGrpSpPr>
        <p:grpSpPr>
          <a:xfrm rot="0">
            <a:off x="0" y="-19050"/>
            <a:ext cx="14758988" cy="1085850"/>
            <a:chOff x="0" y="0"/>
            <a:chExt cx="19678650" cy="1447800"/>
          </a:xfrm>
        </p:grpSpPr>
        <p:sp>
          <p:nvSpPr>
            <p:cNvPr name="Freeform 8" id="8"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5">
                <a:alphaModFix amt="16000"/>
              </a:blip>
              <a:stretch>
                <a:fillRect l="0" t="-374753" r="0" b="-374753"/>
              </a:stretch>
            </a:blipFill>
          </p:spPr>
        </p:sp>
      </p:grpSp>
      <p:grpSp>
        <p:nvGrpSpPr>
          <p:cNvPr name="Group 9" id="9"/>
          <p:cNvGrpSpPr/>
          <p:nvPr/>
        </p:nvGrpSpPr>
        <p:grpSpPr>
          <a:xfrm rot="0">
            <a:off x="17887950" y="-629"/>
            <a:ext cx="400050" cy="1098518"/>
            <a:chOff x="0" y="0"/>
            <a:chExt cx="533400" cy="1464691"/>
          </a:xfrm>
        </p:grpSpPr>
        <p:sp>
          <p:nvSpPr>
            <p:cNvPr name="Freeform 10" id="10"/>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sp>
        <p:nvSpPr>
          <p:cNvPr name="Freeform 11" id="11"/>
          <p:cNvSpPr/>
          <p:nvPr/>
        </p:nvSpPr>
        <p:spPr>
          <a:xfrm flipH="false" flipV="false" rot="0">
            <a:off x="3417171" y="2888180"/>
            <a:ext cx="12604471" cy="6356958"/>
          </a:xfrm>
          <a:custGeom>
            <a:avLst/>
            <a:gdLst/>
            <a:ahLst/>
            <a:cxnLst/>
            <a:rect r="r" b="b" t="t" l="l"/>
            <a:pathLst>
              <a:path h="6356958" w="12604471">
                <a:moveTo>
                  <a:pt x="0" y="0"/>
                </a:moveTo>
                <a:lnTo>
                  <a:pt x="12604470" y="0"/>
                </a:lnTo>
                <a:lnTo>
                  <a:pt x="12604470" y="6356958"/>
                </a:lnTo>
                <a:lnTo>
                  <a:pt x="0" y="6356958"/>
                </a:lnTo>
                <a:lnTo>
                  <a:pt x="0" y="0"/>
                </a:lnTo>
                <a:close/>
              </a:path>
            </a:pathLst>
          </a:custGeom>
          <a:blipFill>
            <a:blip r:embed="rId6"/>
            <a:stretch>
              <a:fillRect l="0" t="-5765" r="0" b="-5765"/>
            </a:stretch>
          </a:blipFill>
        </p:spPr>
      </p:sp>
      <p:sp>
        <p:nvSpPr>
          <p:cNvPr name="TextBox 12" id="12"/>
          <p:cNvSpPr txBox="true"/>
          <p:nvPr/>
        </p:nvSpPr>
        <p:spPr>
          <a:xfrm rot="0">
            <a:off x="394545" y="1466421"/>
            <a:ext cx="8673255" cy="2824467"/>
          </a:xfrm>
          <a:prstGeom prst="rect">
            <a:avLst/>
          </a:prstGeom>
        </p:spPr>
        <p:txBody>
          <a:bodyPr anchor="t" rtlCol="false" tIns="0" lIns="0" bIns="0" rIns="0">
            <a:spAutoFit/>
          </a:bodyPr>
          <a:lstStyle/>
          <a:p>
            <a:pPr algn="l">
              <a:lnSpc>
                <a:spcPts val="3600"/>
              </a:lnSpc>
            </a:pPr>
            <a:r>
              <a:rPr lang="en-US" sz="3000" b="true">
                <a:solidFill>
                  <a:srgbClr val="213163"/>
                </a:solidFill>
                <a:latin typeface="Arial Bold"/>
                <a:ea typeface="Arial Bold"/>
                <a:cs typeface="Arial Bold"/>
                <a:sym typeface="Arial Bold"/>
              </a:rPr>
              <a:t>Result/Outcomes</a:t>
            </a:r>
          </a:p>
          <a:p>
            <a:pPr algn="l">
              <a:lnSpc>
                <a:spcPts val="3600"/>
              </a:lnSpc>
            </a:pPr>
          </a:p>
          <a:p>
            <a:pPr algn="l">
              <a:lnSpc>
                <a:spcPts val="3600"/>
              </a:lnSpc>
            </a:pPr>
          </a:p>
          <a:p>
            <a:pPr algn="l">
              <a:lnSpc>
                <a:spcPts val="3600"/>
              </a:lnSpc>
            </a:pPr>
          </a:p>
          <a:p>
            <a:pPr algn="l">
              <a:lnSpc>
                <a:spcPts val="3600"/>
              </a:lnSpc>
            </a:pPr>
          </a:p>
          <a:p>
            <a:pPr algn="l">
              <a:lnSpc>
                <a:spcPts val="360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51"/>
            <a:chOff x="0" y="0"/>
            <a:chExt cx="3600450" cy="1151001"/>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2510" r="0" b="-2510"/>
              </a:stretch>
            </a:blipFill>
          </p:spPr>
        </p:sp>
      </p:grpSp>
      <p:sp>
        <p:nvSpPr>
          <p:cNvPr name="Freeform 4" id="4"/>
          <p:cNvSpPr/>
          <p:nvPr/>
        </p:nvSpPr>
        <p:spPr>
          <a:xfrm flipH="false" flipV="false" rot="0">
            <a:off x="-19050" y="-19050"/>
            <a:ext cx="14782800" cy="1114520"/>
          </a:xfrm>
          <a:custGeom>
            <a:avLst/>
            <a:gdLst/>
            <a:ahLst/>
            <a:cxnLst/>
            <a:rect r="r" b="b" t="t" l="l"/>
            <a:pathLst>
              <a:path h="1114520" w="14782800">
                <a:moveTo>
                  <a:pt x="0" y="0"/>
                </a:moveTo>
                <a:lnTo>
                  <a:pt x="14782800" y="0"/>
                </a:lnTo>
                <a:lnTo>
                  <a:pt x="14782800" y="1114520"/>
                </a:lnTo>
                <a:lnTo>
                  <a:pt x="0" y="11145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4833454" y="-629"/>
            <a:ext cx="168402" cy="1098518"/>
            <a:chOff x="0" y="0"/>
            <a:chExt cx="224536" cy="1464691"/>
          </a:xfrm>
        </p:grpSpPr>
        <p:sp>
          <p:nvSpPr>
            <p:cNvPr name="Freeform 6" id="6"/>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7" id="7"/>
          <p:cNvGrpSpPr/>
          <p:nvPr/>
        </p:nvGrpSpPr>
        <p:grpSpPr>
          <a:xfrm rot="0">
            <a:off x="0" y="-19050"/>
            <a:ext cx="14758988" cy="1085850"/>
            <a:chOff x="0" y="0"/>
            <a:chExt cx="19678650" cy="1447800"/>
          </a:xfrm>
        </p:grpSpPr>
        <p:sp>
          <p:nvSpPr>
            <p:cNvPr name="Freeform 8" id="8"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5">
                <a:alphaModFix amt="16000"/>
              </a:blip>
              <a:stretch>
                <a:fillRect l="0" t="-374753" r="0" b="-374753"/>
              </a:stretch>
            </a:blipFill>
          </p:spPr>
        </p:sp>
      </p:grpSp>
      <p:grpSp>
        <p:nvGrpSpPr>
          <p:cNvPr name="Group 9" id="9"/>
          <p:cNvGrpSpPr/>
          <p:nvPr/>
        </p:nvGrpSpPr>
        <p:grpSpPr>
          <a:xfrm rot="0">
            <a:off x="17887950" y="-629"/>
            <a:ext cx="400050" cy="1098518"/>
            <a:chOff x="0" y="0"/>
            <a:chExt cx="533400" cy="1464691"/>
          </a:xfrm>
        </p:grpSpPr>
        <p:sp>
          <p:nvSpPr>
            <p:cNvPr name="Freeform 10" id="10"/>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sp>
        <p:nvSpPr>
          <p:cNvPr name="TextBox 11" id="11"/>
          <p:cNvSpPr txBox="true"/>
          <p:nvPr/>
        </p:nvSpPr>
        <p:spPr>
          <a:xfrm rot="0">
            <a:off x="1142695" y="1703337"/>
            <a:ext cx="15062968" cy="6657632"/>
          </a:xfrm>
          <a:prstGeom prst="rect">
            <a:avLst/>
          </a:prstGeom>
        </p:spPr>
        <p:txBody>
          <a:bodyPr anchor="t" rtlCol="false" tIns="0" lIns="0" bIns="0" rIns="0">
            <a:spAutoFit/>
          </a:bodyPr>
          <a:lstStyle/>
          <a:p>
            <a:pPr algn="l">
              <a:lnSpc>
                <a:spcPts val="3600"/>
              </a:lnSpc>
            </a:pPr>
            <a:r>
              <a:rPr lang="en-US" sz="3000" b="true">
                <a:solidFill>
                  <a:srgbClr val="213163"/>
                </a:solidFill>
                <a:latin typeface="Arial Bold"/>
                <a:ea typeface="Arial Bold"/>
                <a:cs typeface="Arial Bold"/>
                <a:sym typeface="Arial Bold"/>
              </a:rPr>
              <a:t>Conclusion:</a:t>
            </a:r>
          </a:p>
          <a:p>
            <a:pPr algn="l">
              <a:lnSpc>
                <a:spcPts val="3360"/>
              </a:lnSpc>
            </a:pPr>
          </a:p>
          <a:p>
            <a:pPr algn="l">
              <a:lnSpc>
                <a:spcPts val="5040"/>
              </a:lnSpc>
            </a:pPr>
            <a:r>
              <a:rPr lang="en-US" sz="2799" b="true">
                <a:solidFill>
                  <a:srgbClr val="213163"/>
                </a:solidFill>
                <a:latin typeface="Arial Bold"/>
                <a:ea typeface="Arial Bold"/>
                <a:cs typeface="Arial Bold"/>
                <a:sym typeface="Arial Bold"/>
              </a:rPr>
              <a:t>   </a:t>
            </a:r>
            <a:r>
              <a:rPr lang="en-US" sz="2799">
                <a:solidFill>
                  <a:srgbClr val="000000"/>
                </a:solidFill>
                <a:latin typeface="Arial"/>
                <a:ea typeface="Arial"/>
                <a:cs typeface="Arial"/>
                <a:sym typeface="Arial"/>
              </a:rPr>
              <a:t>The Aircraft Delay Prediction Tool using Machine Learning helps in predicting possible flight delays by analyzing historical flight data. In this project, machine learning algorithms are used to identify patterns and factors that cause delays. The system can provide early predictions, which helps airlines and airport authorities make better decisions. It can also help passengers plan their travel more efficiently. By using data analysis and machine learning techniques, the accuracy of delay prediction can be improved. Overall, this project demonstrates how technology can be used to reduce the impact of flight delays and improve the efficiency of air transportation. ✈️</a:t>
            </a:r>
          </a:p>
          <a:p>
            <a:pPr algn="l">
              <a:lnSpc>
                <a:spcPts val="336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51"/>
            <a:chOff x="0" y="0"/>
            <a:chExt cx="3600450" cy="1151001"/>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2510" r="0" b="-2510"/>
              </a:stretch>
            </a:blipFill>
          </p:spPr>
        </p:sp>
      </p:grpSp>
      <p:sp>
        <p:nvSpPr>
          <p:cNvPr name="Freeform 4" id="4"/>
          <p:cNvSpPr/>
          <p:nvPr/>
        </p:nvSpPr>
        <p:spPr>
          <a:xfrm flipH="false" flipV="false" rot="0">
            <a:off x="-19050" y="-19050"/>
            <a:ext cx="14782800" cy="1114520"/>
          </a:xfrm>
          <a:custGeom>
            <a:avLst/>
            <a:gdLst/>
            <a:ahLst/>
            <a:cxnLst/>
            <a:rect r="r" b="b" t="t" l="l"/>
            <a:pathLst>
              <a:path h="1114520" w="14782800">
                <a:moveTo>
                  <a:pt x="0" y="0"/>
                </a:moveTo>
                <a:lnTo>
                  <a:pt x="14782800" y="0"/>
                </a:lnTo>
                <a:lnTo>
                  <a:pt x="14782800" y="1114520"/>
                </a:lnTo>
                <a:lnTo>
                  <a:pt x="0" y="11145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4833454" y="-629"/>
            <a:ext cx="168402" cy="1098518"/>
            <a:chOff x="0" y="0"/>
            <a:chExt cx="224536" cy="1464691"/>
          </a:xfrm>
        </p:grpSpPr>
        <p:sp>
          <p:nvSpPr>
            <p:cNvPr name="Freeform 6" id="6"/>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7" id="7"/>
          <p:cNvGrpSpPr/>
          <p:nvPr/>
        </p:nvGrpSpPr>
        <p:grpSpPr>
          <a:xfrm rot="0">
            <a:off x="0" y="-19050"/>
            <a:ext cx="14758988" cy="1085850"/>
            <a:chOff x="0" y="0"/>
            <a:chExt cx="19678650" cy="1447800"/>
          </a:xfrm>
        </p:grpSpPr>
        <p:sp>
          <p:nvSpPr>
            <p:cNvPr name="Freeform 8" id="8"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5">
                <a:alphaModFix amt="16000"/>
              </a:blip>
              <a:stretch>
                <a:fillRect l="0" t="-374753" r="0" b="-374753"/>
              </a:stretch>
            </a:blipFill>
          </p:spPr>
        </p:sp>
      </p:grpSp>
      <p:grpSp>
        <p:nvGrpSpPr>
          <p:cNvPr name="Group 9" id="9"/>
          <p:cNvGrpSpPr/>
          <p:nvPr/>
        </p:nvGrpSpPr>
        <p:grpSpPr>
          <a:xfrm rot="0">
            <a:off x="17887950" y="-629"/>
            <a:ext cx="400050" cy="1098518"/>
            <a:chOff x="0" y="0"/>
            <a:chExt cx="533400" cy="1464691"/>
          </a:xfrm>
        </p:grpSpPr>
        <p:sp>
          <p:nvSpPr>
            <p:cNvPr name="Freeform 10" id="10"/>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sp>
        <p:nvSpPr>
          <p:cNvPr name="TextBox 11" id="11"/>
          <p:cNvSpPr txBox="true"/>
          <p:nvPr/>
        </p:nvSpPr>
        <p:spPr>
          <a:xfrm rot="0">
            <a:off x="784431" y="1300848"/>
            <a:ext cx="16009306" cy="5951201"/>
          </a:xfrm>
          <a:prstGeom prst="rect">
            <a:avLst/>
          </a:prstGeom>
        </p:spPr>
        <p:txBody>
          <a:bodyPr anchor="t" rtlCol="false" tIns="0" lIns="0" bIns="0" rIns="0">
            <a:spAutoFit/>
          </a:bodyPr>
          <a:lstStyle/>
          <a:p>
            <a:pPr algn="l">
              <a:lnSpc>
                <a:spcPts val="5400"/>
              </a:lnSpc>
            </a:pPr>
            <a:r>
              <a:rPr lang="en-US" sz="3000" b="true">
                <a:solidFill>
                  <a:srgbClr val="213163"/>
                </a:solidFill>
                <a:latin typeface="Arial Bold"/>
                <a:ea typeface="Arial Bold"/>
                <a:cs typeface="Arial Bold"/>
                <a:sym typeface="Arial Bold"/>
              </a:rPr>
              <a:t>Future Perspective :</a:t>
            </a:r>
          </a:p>
          <a:p>
            <a:pPr algn="l">
              <a:lnSpc>
                <a:spcPts val="5040"/>
              </a:lnSpc>
            </a:pPr>
          </a:p>
          <a:p>
            <a:pPr algn="just">
              <a:lnSpc>
                <a:spcPts val="5040"/>
              </a:lnSpc>
            </a:pPr>
            <a:r>
              <a:rPr lang="en-US" sz="2799" b="true">
                <a:solidFill>
                  <a:srgbClr val="213163"/>
                </a:solidFill>
                <a:latin typeface="Arial Bold"/>
                <a:ea typeface="Arial Bold"/>
                <a:cs typeface="Arial Bold"/>
                <a:sym typeface="Arial Bold"/>
              </a:rPr>
              <a:t>    </a:t>
            </a:r>
            <a:r>
              <a:rPr lang="en-US" sz="2799">
                <a:solidFill>
                  <a:srgbClr val="000000"/>
                </a:solidFill>
                <a:latin typeface="Arial"/>
                <a:ea typeface="Arial"/>
                <a:cs typeface="Arial"/>
                <a:sym typeface="Arial"/>
              </a:rPr>
              <a:t>In the future, the Aircraft Delay Prediction Tool can be improved by using </a:t>
            </a:r>
            <a:r>
              <a:rPr lang="en-US" sz="2799" b="true">
                <a:solidFill>
                  <a:srgbClr val="000000"/>
                </a:solidFill>
                <a:latin typeface="Arial Bold"/>
                <a:ea typeface="Arial Bold"/>
                <a:cs typeface="Arial Bold"/>
                <a:sym typeface="Arial Bold"/>
              </a:rPr>
              <a:t>larger and real-time flight datasets</a:t>
            </a:r>
            <a:r>
              <a:rPr lang="en-US" sz="2799">
                <a:solidFill>
                  <a:srgbClr val="000000"/>
                </a:solidFill>
                <a:latin typeface="Arial"/>
                <a:ea typeface="Arial"/>
                <a:cs typeface="Arial"/>
                <a:sym typeface="Arial"/>
              </a:rPr>
              <a:t> to increase prediction accuracy. Advanced </a:t>
            </a:r>
            <a:r>
              <a:rPr lang="en-US" sz="2799" b="true">
                <a:solidFill>
                  <a:srgbClr val="000000"/>
                </a:solidFill>
                <a:latin typeface="Arial Bold"/>
                <a:ea typeface="Arial Bold"/>
                <a:cs typeface="Arial Bold"/>
                <a:sym typeface="Arial Bold"/>
              </a:rPr>
              <a:t>Machine Learning and Deep Learning algorithms</a:t>
            </a:r>
            <a:r>
              <a:rPr lang="en-US" sz="2799">
                <a:solidFill>
                  <a:srgbClr val="000000"/>
                </a:solidFill>
                <a:latin typeface="Arial"/>
                <a:ea typeface="Arial"/>
                <a:cs typeface="Arial"/>
                <a:sym typeface="Arial"/>
              </a:rPr>
              <a:t> can also be applied for better performance. The system can be integrated with </a:t>
            </a:r>
            <a:r>
              <a:rPr lang="en-US" sz="2799" b="true">
                <a:solidFill>
                  <a:srgbClr val="000000"/>
                </a:solidFill>
                <a:latin typeface="Arial Bold"/>
                <a:ea typeface="Arial Bold"/>
                <a:cs typeface="Arial Bold"/>
                <a:sym typeface="Arial Bold"/>
              </a:rPr>
              <a:t>airline and airport management systems</a:t>
            </a:r>
            <a:r>
              <a:rPr lang="en-US" sz="2799">
                <a:solidFill>
                  <a:srgbClr val="000000"/>
                </a:solidFill>
                <a:latin typeface="Arial"/>
                <a:ea typeface="Arial"/>
                <a:cs typeface="Arial"/>
                <a:sym typeface="Arial"/>
              </a:rPr>
              <a:t> to provide real-time delay updates. A </a:t>
            </a:r>
            <a:r>
              <a:rPr lang="en-US" sz="2799" b="true">
                <a:solidFill>
                  <a:srgbClr val="000000"/>
                </a:solidFill>
                <a:latin typeface="Arial Bold"/>
                <a:ea typeface="Arial Bold"/>
                <a:cs typeface="Arial Bold"/>
                <a:sym typeface="Arial Bold"/>
              </a:rPr>
              <a:t>web or mobile application</a:t>
            </a:r>
            <a:r>
              <a:rPr lang="en-US" sz="2799">
                <a:solidFill>
                  <a:srgbClr val="000000"/>
                </a:solidFill>
                <a:latin typeface="Arial"/>
                <a:ea typeface="Arial"/>
                <a:cs typeface="Arial"/>
                <a:sym typeface="Arial"/>
              </a:rPr>
              <a:t> can also be developed so that passengers can easily check delay predictions. Additionally, the model can include more factors like </a:t>
            </a:r>
            <a:r>
              <a:rPr lang="en-US" sz="2799" b="true">
                <a:solidFill>
                  <a:srgbClr val="000000"/>
                </a:solidFill>
                <a:latin typeface="Arial Bold"/>
                <a:ea typeface="Arial Bold"/>
                <a:cs typeface="Arial Bold"/>
                <a:sym typeface="Arial Bold"/>
              </a:rPr>
              <a:t>live weather data and air traffic information</a:t>
            </a:r>
            <a:r>
              <a:rPr lang="en-US" sz="2799">
                <a:solidFill>
                  <a:srgbClr val="000000"/>
                </a:solidFill>
                <a:latin typeface="Arial"/>
                <a:ea typeface="Arial"/>
                <a:cs typeface="Arial"/>
                <a:sym typeface="Arial"/>
              </a:rPr>
              <a:t> to make the prediction system more efficient and reliable.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51"/>
            <a:chOff x="0" y="0"/>
            <a:chExt cx="3600450" cy="1151001"/>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2510" r="0" b="-2510"/>
              </a:stretch>
            </a:blipFill>
          </p:spPr>
        </p:sp>
      </p:grpSp>
      <p:sp>
        <p:nvSpPr>
          <p:cNvPr name="Freeform 4" id="4"/>
          <p:cNvSpPr/>
          <p:nvPr/>
        </p:nvSpPr>
        <p:spPr>
          <a:xfrm flipH="false" flipV="false" rot="0">
            <a:off x="-19050" y="-19050"/>
            <a:ext cx="14782800" cy="1114520"/>
          </a:xfrm>
          <a:custGeom>
            <a:avLst/>
            <a:gdLst/>
            <a:ahLst/>
            <a:cxnLst/>
            <a:rect r="r" b="b" t="t" l="l"/>
            <a:pathLst>
              <a:path h="1114520" w="14782800">
                <a:moveTo>
                  <a:pt x="0" y="0"/>
                </a:moveTo>
                <a:lnTo>
                  <a:pt x="14782800" y="0"/>
                </a:lnTo>
                <a:lnTo>
                  <a:pt x="14782800" y="1114520"/>
                </a:lnTo>
                <a:lnTo>
                  <a:pt x="0" y="11145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4833454" y="-629"/>
            <a:ext cx="168402" cy="1098518"/>
            <a:chOff x="0" y="0"/>
            <a:chExt cx="224536" cy="1464691"/>
          </a:xfrm>
        </p:grpSpPr>
        <p:sp>
          <p:nvSpPr>
            <p:cNvPr name="Freeform 6" id="6"/>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7" id="7"/>
          <p:cNvGrpSpPr/>
          <p:nvPr/>
        </p:nvGrpSpPr>
        <p:grpSpPr>
          <a:xfrm rot="0">
            <a:off x="0" y="-19050"/>
            <a:ext cx="14758988" cy="1085850"/>
            <a:chOff x="0" y="0"/>
            <a:chExt cx="19678650" cy="1447800"/>
          </a:xfrm>
        </p:grpSpPr>
        <p:sp>
          <p:nvSpPr>
            <p:cNvPr name="Freeform 8" id="8"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5">
                <a:alphaModFix amt="16000"/>
              </a:blip>
              <a:stretch>
                <a:fillRect l="0" t="-374753" r="0" b="-374753"/>
              </a:stretch>
            </a:blipFill>
          </p:spPr>
        </p:sp>
      </p:grpSp>
      <p:grpSp>
        <p:nvGrpSpPr>
          <p:cNvPr name="Group 9" id="9"/>
          <p:cNvGrpSpPr/>
          <p:nvPr/>
        </p:nvGrpSpPr>
        <p:grpSpPr>
          <a:xfrm rot="0">
            <a:off x="17887950" y="-629"/>
            <a:ext cx="400050" cy="1098518"/>
            <a:chOff x="0" y="0"/>
            <a:chExt cx="533400" cy="1464691"/>
          </a:xfrm>
        </p:grpSpPr>
        <p:sp>
          <p:nvSpPr>
            <p:cNvPr name="Freeform 10" id="10"/>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sp>
        <p:nvSpPr>
          <p:cNvPr name="TextBox 11" id="11"/>
          <p:cNvSpPr txBox="true"/>
          <p:nvPr/>
        </p:nvSpPr>
        <p:spPr>
          <a:xfrm rot="0">
            <a:off x="394545" y="1466421"/>
            <a:ext cx="12515459" cy="2762250"/>
          </a:xfrm>
          <a:prstGeom prst="rect">
            <a:avLst/>
          </a:prstGeom>
        </p:spPr>
        <p:txBody>
          <a:bodyPr anchor="t" rtlCol="false" tIns="0" lIns="0" bIns="0" rIns="0">
            <a:spAutoFit/>
          </a:bodyPr>
          <a:lstStyle/>
          <a:p>
            <a:pPr algn="l">
              <a:lnSpc>
                <a:spcPts val="3600"/>
              </a:lnSpc>
            </a:pPr>
            <a:r>
              <a:rPr lang="en-US" sz="3000" b="true">
                <a:solidFill>
                  <a:srgbClr val="213163"/>
                </a:solidFill>
                <a:latin typeface="Arial Bold"/>
                <a:ea typeface="Arial Bold"/>
                <a:cs typeface="Arial Bold"/>
                <a:sym typeface="Arial Bold"/>
              </a:rPr>
              <a:t>Reference</a:t>
            </a:r>
          </a:p>
          <a:p>
            <a:pPr algn="l">
              <a:lnSpc>
                <a:spcPts val="3600"/>
              </a:lnSpc>
            </a:pPr>
          </a:p>
          <a:p>
            <a:pPr algn="l">
              <a:lnSpc>
                <a:spcPts val="3600"/>
              </a:lnSpc>
            </a:pPr>
            <a:r>
              <a:rPr lang="en-US" sz="3000" b="true">
                <a:solidFill>
                  <a:srgbClr val="213163"/>
                </a:solidFill>
                <a:latin typeface="Arial Bold"/>
                <a:ea typeface="Arial Bold"/>
                <a:cs typeface="Arial Bold"/>
                <a:sym typeface="Arial Bold"/>
              </a:rPr>
              <a:t>https://scikit-learn.org/stable/https://www.geeksforgeeks.org/machine-learning/</a:t>
            </a:r>
          </a:p>
          <a:p>
            <a:pPr algn="l">
              <a:lnSpc>
                <a:spcPts val="3600"/>
              </a:lnSpc>
            </a:pPr>
          </a:p>
          <a:p>
            <a:pPr algn="l">
              <a:lnSpc>
                <a:spcPts val="3600"/>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51"/>
            <a:chOff x="0" y="0"/>
            <a:chExt cx="3600450" cy="1151001"/>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2510" r="0" b="-2510"/>
              </a:stretch>
            </a:blipFill>
          </p:spPr>
        </p:sp>
      </p:grpSp>
      <p:sp>
        <p:nvSpPr>
          <p:cNvPr name="Freeform 4" id="4"/>
          <p:cNvSpPr/>
          <p:nvPr/>
        </p:nvSpPr>
        <p:spPr>
          <a:xfrm flipH="false" flipV="false" rot="0">
            <a:off x="-19050" y="-19050"/>
            <a:ext cx="14782800" cy="1114520"/>
          </a:xfrm>
          <a:custGeom>
            <a:avLst/>
            <a:gdLst/>
            <a:ahLst/>
            <a:cxnLst/>
            <a:rect r="r" b="b" t="t" l="l"/>
            <a:pathLst>
              <a:path h="1114520" w="14782800">
                <a:moveTo>
                  <a:pt x="0" y="0"/>
                </a:moveTo>
                <a:lnTo>
                  <a:pt x="14782800" y="0"/>
                </a:lnTo>
                <a:lnTo>
                  <a:pt x="14782800" y="1114520"/>
                </a:lnTo>
                <a:lnTo>
                  <a:pt x="0" y="11145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4833454" y="-629"/>
            <a:ext cx="168402" cy="1098518"/>
            <a:chOff x="0" y="0"/>
            <a:chExt cx="224536" cy="1464691"/>
          </a:xfrm>
        </p:grpSpPr>
        <p:sp>
          <p:nvSpPr>
            <p:cNvPr name="Freeform 6" id="6"/>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7" id="7"/>
          <p:cNvGrpSpPr/>
          <p:nvPr/>
        </p:nvGrpSpPr>
        <p:grpSpPr>
          <a:xfrm rot="0">
            <a:off x="0" y="-19050"/>
            <a:ext cx="14758988" cy="1085850"/>
            <a:chOff x="0" y="0"/>
            <a:chExt cx="19678650" cy="1447800"/>
          </a:xfrm>
        </p:grpSpPr>
        <p:sp>
          <p:nvSpPr>
            <p:cNvPr name="Freeform 8" id="8"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5">
                <a:alphaModFix amt="16000"/>
              </a:blip>
              <a:stretch>
                <a:fillRect l="0" t="-374753" r="0" b="-374753"/>
              </a:stretch>
            </a:blipFill>
          </p:spPr>
        </p:sp>
      </p:grpSp>
      <p:grpSp>
        <p:nvGrpSpPr>
          <p:cNvPr name="Group 9" id="9"/>
          <p:cNvGrpSpPr/>
          <p:nvPr/>
        </p:nvGrpSpPr>
        <p:grpSpPr>
          <a:xfrm rot="0">
            <a:off x="17887950" y="-629"/>
            <a:ext cx="400050" cy="1098518"/>
            <a:chOff x="0" y="0"/>
            <a:chExt cx="533400" cy="1464691"/>
          </a:xfrm>
        </p:grpSpPr>
        <p:sp>
          <p:nvSpPr>
            <p:cNvPr name="Freeform 10" id="10"/>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sp>
        <p:nvSpPr>
          <p:cNvPr name="TextBox 11" id="11"/>
          <p:cNvSpPr txBox="true"/>
          <p:nvPr/>
        </p:nvSpPr>
        <p:spPr>
          <a:xfrm rot="0">
            <a:off x="6564230" y="4397607"/>
            <a:ext cx="5159531" cy="1392974"/>
          </a:xfrm>
          <a:prstGeom prst="rect">
            <a:avLst/>
          </a:prstGeom>
        </p:spPr>
        <p:txBody>
          <a:bodyPr anchor="t" rtlCol="false" tIns="0" lIns="0" bIns="0" rIns="0">
            <a:spAutoFit/>
          </a:bodyPr>
          <a:lstStyle/>
          <a:p>
            <a:pPr algn="l">
              <a:lnSpc>
                <a:spcPts val="9000"/>
              </a:lnSpc>
            </a:pPr>
            <a:r>
              <a:rPr lang="en-US" sz="7500" b="true">
                <a:solidFill>
                  <a:srgbClr val="213163"/>
                </a:solidFill>
                <a:latin typeface="Arial Bold"/>
                <a:ea typeface="Arial Bold"/>
                <a:cs typeface="Arial Bold"/>
                <a:sym typeface="Arial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DAHDtVAtg6I</dc:identifier>
  <dcterms:modified xsi:type="dcterms:W3CDTF">2011-08-01T06:04:30Z</dcterms:modified>
  <cp:revision>1</cp:revision>
  <dc:title>Reference</dc:title>
</cp:coreProperties>
</file>